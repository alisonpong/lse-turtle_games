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8"/>
  </p:notesMasterIdLst>
  <p:handoutMasterIdLst>
    <p:handoutMasterId r:id="rId19"/>
  </p:handoutMasterIdLst>
  <p:sldIdLst>
    <p:sldId id="256" r:id="rId5"/>
    <p:sldId id="299" r:id="rId6"/>
    <p:sldId id="300" r:id="rId7"/>
    <p:sldId id="304" r:id="rId8"/>
    <p:sldId id="316" r:id="rId9"/>
    <p:sldId id="323" r:id="rId10"/>
    <p:sldId id="325" r:id="rId11"/>
    <p:sldId id="329" r:id="rId12"/>
    <p:sldId id="326" r:id="rId13"/>
    <p:sldId id="328" r:id="rId14"/>
    <p:sldId id="327" r:id="rId15"/>
    <p:sldId id="330" r:id="rId16"/>
    <p:sldId id="31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FF9933"/>
    <a:srgbClr val="9966FF"/>
    <a:srgbClr val="CC66FF"/>
    <a:srgbClr val="CCCCFF"/>
    <a:srgbClr val="FBF4EF"/>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356" autoAdjust="0"/>
  </p:normalViewPr>
  <p:slideViewPr>
    <p:cSldViewPr snapToGrid="0">
      <p:cViewPr varScale="1">
        <p:scale>
          <a:sx n="90" d="100"/>
          <a:sy n="90" d="100"/>
        </p:scale>
        <p:origin x="1392" y="78"/>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4/28/2026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4/28/2026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Hi everyone, I’m Alison. Today, I’m sharing the results of a data-driven deep dive into Turtle Games’ first year of operations. My goal is to show you exactly who our customers are and how we can more effectively drive loyalty and revenue. </a:t>
            </a:r>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31519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540203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Turtle Games has a wealth of data from our first year, but data only has value if it’s actionable. Our analysis focused on four key pillars to scale our performance:</a:t>
            </a:r>
            <a:br>
              <a:rPr lang="en-US" dirty="0"/>
            </a:br>
            <a:endParaRPr lang="en-HK"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2143747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1420019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69243-DAD4-BEF4-B363-A9E5B908D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F5E23-090E-CA81-DBDC-C1D5E2677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0C92F9-F357-B69A-1E30-041C0675ED6B}"/>
              </a:ext>
            </a:extLst>
          </p:cNvPr>
          <p:cNvSpPr>
            <a:spLocks noGrp="1"/>
          </p:cNvSpPr>
          <p:nvPr>
            <p:ph type="body" idx="1"/>
          </p:nvPr>
        </p:nvSpPr>
        <p:spPr/>
        <p:txBody>
          <a:bodyPr/>
          <a:lstStyle/>
          <a:p>
            <a:r>
              <a:rPr lang="en-US" dirty="0"/>
              <a:t>We analyzed the full spectrum of customer data—from age to education—to identify what actually drives our bottom line. This 'Strategic Filter' allowed us to set aside the noise and focus our resources on the two metrics that truly dictate loyalty.</a:t>
            </a:r>
          </a:p>
          <a:p>
            <a:endParaRPr lang="en-US" dirty="0"/>
          </a:p>
          <a:p>
            <a:r>
              <a:rPr lang="en-US" dirty="0"/>
              <a:t>When we looked at what actually predicts loyalty, the data gave us a very clear answer. It’s not about who the customer is—it’s about their financials. As you can see, </a:t>
            </a:r>
            <a:r>
              <a:rPr lang="en-US" b="1" dirty="0"/>
              <a:t>Remuneration</a:t>
            </a:r>
            <a:r>
              <a:rPr lang="en-US" dirty="0"/>
              <a:t> and </a:t>
            </a:r>
            <a:r>
              <a:rPr lang="en-US" b="1" dirty="0"/>
              <a:t>Spending Score</a:t>
            </a:r>
            <a:r>
              <a:rPr lang="en-US" dirty="0"/>
              <a:t> each contribute about 50% to our model’s predictive power. They are the twin engines of our loyalty program. Everything else—age, gender, education—was essentially 'noise' that didn't help us predict behavior at all. By narrowing our focus to these two metrics, we've built a much leaner and more accurate strategy</a:t>
            </a:r>
            <a:endParaRPr lang="en-HK" dirty="0"/>
          </a:p>
        </p:txBody>
      </p:sp>
      <p:sp>
        <p:nvSpPr>
          <p:cNvPr id="4" name="Slide Number Placeholder 3">
            <a:extLst>
              <a:ext uri="{FF2B5EF4-FFF2-40B4-BE49-F238E27FC236}">
                <a16:creationId xmlns:a16="http://schemas.microsoft.com/office/drawing/2014/main" id="{91AD7D39-3C0E-7E03-02EF-A8EE4D40DD8E}"/>
              </a:ext>
            </a:extLst>
          </p:cNvPr>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3267096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"typical" customer follows a predictable linear path, our growth potential lies in converting "Conservative Earners" into "Accelerators.</a:t>
            </a:r>
            <a:endParaRPr lang="en-HK"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3413558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4801E-4758-440B-2FB7-CE9726751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65626-1DEF-BC5C-81C8-F9CF744D00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E6C39-CFED-9578-5B99-87D0593D202E}"/>
              </a:ext>
            </a:extLst>
          </p:cNvPr>
          <p:cNvSpPr>
            <a:spLocks noGrp="1"/>
          </p:cNvSpPr>
          <p:nvPr>
            <p:ph type="body" idx="1"/>
          </p:nvPr>
        </p:nvSpPr>
        <p:spPr/>
        <p:txBody>
          <a:bodyPr/>
          <a:lstStyle/>
          <a:p>
            <a:endParaRPr lang="en-HK" dirty="0"/>
          </a:p>
        </p:txBody>
      </p:sp>
      <p:sp>
        <p:nvSpPr>
          <p:cNvPr id="4" name="Slide Number Placeholder 3">
            <a:extLst>
              <a:ext uri="{FF2B5EF4-FFF2-40B4-BE49-F238E27FC236}">
                <a16:creationId xmlns:a16="http://schemas.microsoft.com/office/drawing/2014/main" id="{50FAA81C-040F-DCFF-FE98-1C873FDC6F4E}"/>
              </a:ext>
            </a:extLst>
          </p:cNvPr>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2132336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6505B-4B33-E138-2EAE-3EDAB34E2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2C52B-FED8-2B2F-3C4B-383BBEC92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10C90B-9EF3-EC7B-3068-ED505CE8D3A1}"/>
              </a:ext>
            </a:extLst>
          </p:cNvPr>
          <p:cNvSpPr>
            <a:spLocks noGrp="1"/>
          </p:cNvSpPr>
          <p:nvPr>
            <p:ph type="body" idx="1"/>
          </p:nvPr>
        </p:nvSpPr>
        <p:spPr/>
        <p:txBody>
          <a:bodyPr/>
          <a:lstStyle/>
          <a:p>
            <a:endParaRPr lang="en-HK" dirty="0"/>
          </a:p>
        </p:txBody>
      </p:sp>
      <p:sp>
        <p:nvSpPr>
          <p:cNvPr id="4" name="Slide Number Placeholder 3">
            <a:extLst>
              <a:ext uri="{FF2B5EF4-FFF2-40B4-BE49-F238E27FC236}">
                <a16:creationId xmlns:a16="http://schemas.microsoft.com/office/drawing/2014/main" id="{7DE0AEF2-E561-46D1-EEC7-A45633472696}"/>
              </a:ext>
            </a:extLst>
          </p:cNvPr>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4199278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Most of the review feedback are clustering around the 0.0 to 0.5 ranges, which indicates a stable, low-risk brand environment with minimal customer satisfaction. However, the high density of neutral scores suggests that a significant portion of the customer base is satisfied but not yet highly engaged. </a:t>
            </a:r>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1456065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When cross-referenced with this Word Cloud, which highlights recurring themes of Great, Fun, and Like, it is clear that our strengths lie in functional reliability. The insight here is that while the loyalty program is functioning, there is an untapped opportunity to move Neutral customers into Positive advocates through more personalized, emotion-driven marketing communications. </a:t>
            </a:r>
          </a:p>
        </p:txBody>
      </p:sp>
      <p:sp>
        <p:nvSpPr>
          <p:cNvPr id="4" name="Slide Number Placeholder 3"/>
          <p:cNvSpPr>
            <a:spLocks noGrp="1"/>
          </p:cNvSpPr>
          <p:nvPr>
            <p:ph type="sldNum" sz="quarter" idx="5"/>
          </p:nvPr>
        </p:nvSpPr>
        <p:spPr/>
        <p:txBody>
          <a:bodyPr/>
          <a:lstStyle/>
          <a:p>
            <a:fld id="{D4B9A9E5-4F7F-4A7D-9DE1-899232329269}" type="slidenum">
              <a:rPr lang="en-US" smtClean="0"/>
              <a:t>12</a:t>
            </a:fld>
            <a:endParaRPr lang="en-US" dirty="0"/>
          </a:p>
        </p:txBody>
      </p:sp>
    </p:spTree>
    <p:extLst>
      <p:ext uri="{BB962C8B-B14F-4D97-AF65-F5344CB8AC3E}">
        <p14:creationId xmlns:p14="http://schemas.microsoft.com/office/powerpoint/2010/main" val="3513214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D4B9A9E5-4F7F-4A7D-9DE1-899232329269}" type="slidenum">
              <a:rPr lang="en-US" smtClean="0"/>
              <a:t>13</a:t>
            </a:fld>
            <a:endParaRPr lang="en-US" dirty="0"/>
          </a:p>
        </p:txBody>
      </p:sp>
    </p:spTree>
    <p:extLst>
      <p:ext uri="{BB962C8B-B14F-4D97-AF65-F5344CB8AC3E}">
        <p14:creationId xmlns:p14="http://schemas.microsoft.com/office/powerpoint/2010/main" val="639767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2955636" y="4434840"/>
            <a:ext cx="8402175" cy="1122202"/>
          </a:xfrm>
        </p:spPr>
        <p:txBody>
          <a:bodyPr/>
          <a:lstStyle/>
          <a:p>
            <a:pPr algn="r"/>
            <a:r>
              <a:rPr lang="en-US" sz="3000" b="1" dirty="0">
                <a:latin typeface="Poppins" panose="00000500000000000000" pitchFamily="2" charset="0"/>
                <a:cs typeface="Poppins" panose="00000500000000000000" pitchFamily="2" charset="0"/>
              </a:rPr>
              <a:t>PREDICTING FUTURE OUTCOMES</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4110182" y="5586890"/>
            <a:ext cx="7247629" cy="396660"/>
          </a:xfrm>
        </p:spPr>
        <p:txBody>
          <a:bodyPr>
            <a:noAutofit/>
          </a:bodyPr>
          <a:lstStyle/>
          <a:p>
            <a:pPr algn="r"/>
            <a:r>
              <a:rPr lang="en-US" sz="1400" dirty="0">
                <a:latin typeface="Poppins Light" panose="00000400000000000000" pitchFamily="2" charset="0"/>
                <a:cs typeface="Poppins Light" panose="00000400000000000000" pitchFamily="2" charset="0"/>
              </a:rPr>
              <a:t>A case study on Turtle Games</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E9F1B-AF0F-D446-0D9D-0B290C73E005}"/>
              </a:ext>
            </a:extLst>
          </p:cNvPr>
          <p:cNvSpPr>
            <a:spLocks noGrp="1"/>
          </p:cNvSpPr>
          <p:nvPr>
            <p:ph idx="1"/>
          </p:nvPr>
        </p:nvSpPr>
        <p:spPr>
          <a:xfrm>
            <a:off x="623165" y="2309524"/>
            <a:ext cx="5900692" cy="3125643"/>
          </a:xfrm>
        </p:spPr>
        <p:txBody>
          <a:bodyPr>
            <a:noAutofit/>
          </a:bodyPr>
          <a:lstStyle/>
          <a:p>
            <a:pPr marL="285750" indent="-285750">
              <a:buFont typeface="Wingdings" panose="05000000000000000000" pitchFamily="2" charset="2"/>
              <a:buChar char="v"/>
            </a:pPr>
            <a:r>
              <a:rPr lang="en-HK" dirty="0">
                <a:latin typeface="Poppins Light" panose="00000400000000000000" pitchFamily="2" charset="0"/>
                <a:cs typeface="Poppins Light" panose="00000400000000000000" pitchFamily="2" charset="0"/>
              </a:rPr>
              <a:t>Project Overview</a:t>
            </a:r>
            <a:br>
              <a:rPr lang="en-HK" dirty="0">
                <a:latin typeface="Poppins Light" panose="00000400000000000000" pitchFamily="2" charset="0"/>
                <a:cs typeface="Poppins Light" panose="00000400000000000000" pitchFamily="2" charset="0"/>
              </a:rPr>
            </a:br>
            <a:endParaRPr lang="en-HK" dirty="0">
              <a:latin typeface="Poppins Light" panose="00000400000000000000" pitchFamily="2" charset="0"/>
              <a:cs typeface="Poppins Light" panose="00000400000000000000" pitchFamily="2" charset="0"/>
            </a:endParaRPr>
          </a:p>
          <a:p>
            <a:pPr marL="285750" indent="-285750">
              <a:buFont typeface="Wingdings" panose="05000000000000000000" pitchFamily="2" charset="2"/>
              <a:buChar char="v"/>
            </a:pPr>
            <a:r>
              <a:rPr lang="en-HK" dirty="0">
                <a:latin typeface="Poppins Light" panose="00000400000000000000" pitchFamily="2" charset="0"/>
                <a:cs typeface="Poppins Light" panose="00000400000000000000" pitchFamily="2" charset="0"/>
              </a:rPr>
              <a:t>The Loyalty Engine</a:t>
            </a:r>
            <a:br>
              <a:rPr lang="en-HK" dirty="0">
                <a:latin typeface="Poppins Light" panose="00000400000000000000" pitchFamily="2" charset="0"/>
                <a:cs typeface="Poppins Light" panose="00000400000000000000" pitchFamily="2" charset="0"/>
              </a:rPr>
            </a:br>
            <a:endParaRPr lang="en-HK" dirty="0">
              <a:latin typeface="Poppins Light" panose="00000400000000000000" pitchFamily="2" charset="0"/>
              <a:cs typeface="Poppins Light" panose="00000400000000000000" pitchFamily="2" charset="0"/>
            </a:endParaRPr>
          </a:p>
          <a:p>
            <a:pPr marL="285750" indent="-285750">
              <a:buFont typeface="Wingdings" panose="05000000000000000000" pitchFamily="2" charset="2"/>
              <a:buChar char="v"/>
            </a:pPr>
            <a:r>
              <a:rPr lang="en-HK" dirty="0">
                <a:latin typeface="Poppins Light" panose="00000400000000000000" pitchFamily="2" charset="0"/>
                <a:cs typeface="Poppins Light" panose="00000400000000000000" pitchFamily="2" charset="0"/>
              </a:rPr>
              <a:t>Customer Personas</a:t>
            </a:r>
            <a:br>
              <a:rPr lang="en-HK" dirty="0">
                <a:latin typeface="Poppins Light" panose="00000400000000000000" pitchFamily="2" charset="0"/>
                <a:cs typeface="Poppins Light" panose="00000400000000000000" pitchFamily="2" charset="0"/>
              </a:rPr>
            </a:br>
            <a:endParaRPr lang="en-HK" dirty="0">
              <a:latin typeface="Poppins Light" panose="00000400000000000000" pitchFamily="2" charset="0"/>
              <a:cs typeface="Poppins Light" panose="00000400000000000000" pitchFamily="2" charset="0"/>
            </a:endParaRPr>
          </a:p>
          <a:p>
            <a:pPr marL="285750" indent="-285750">
              <a:buFont typeface="Wingdings" panose="05000000000000000000" pitchFamily="2" charset="2"/>
              <a:buChar char="v"/>
            </a:pPr>
            <a:r>
              <a:rPr lang="en-HK" dirty="0">
                <a:latin typeface="Poppins Light" panose="00000400000000000000" pitchFamily="2" charset="0"/>
                <a:cs typeface="Poppins Light" panose="00000400000000000000" pitchFamily="2" charset="0"/>
              </a:rPr>
              <a:t>Sentiment Pulse</a:t>
            </a:r>
            <a:br>
              <a:rPr lang="en-HK" dirty="0">
                <a:latin typeface="Poppins Light" panose="00000400000000000000" pitchFamily="2" charset="0"/>
                <a:cs typeface="Poppins Light" panose="00000400000000000000" pitchFamily="2" charset="0"/>
              </a:rPr>
            </a:br>
            <a:endParaRPr lang="en-HK" dirty="0">
              <a:latin typeface="Poppins Light" panose="00000400000000000000" pitchFamily="2" charset="0"/>
              <a:cs typeface="Poppins Light" panose="00000400000000000000" pitchFamily="2" charset="0"/>
            </a:endParaRPr>
          </a:p>
          <a:p>
            <a:pPr marL="285750" indent="-285750">
              <a:buFont typeface="Wingdings" panose="05000000000000000000" pitchFamily="2" charset="2"/>
              <a:buChar char="v"/>
            </a:pPr>
            <a:r>
              <a:rPr lang="en-HK" dirty="0">
                <a:latin typeface="Poppins Light" panose="00000400000000000000" pitchFamily="2" charset="0"/>
                <a:cs typeface="Poppins Light" panose="00000400000000000000" pitchFamily="2" charset="0"/>
              </a:rPr>
              <a:t>Recommendations</a:t>
            </a:r>
          </a:p>
          <a:p>
            <a:pPr marL="285750" indent="-285750">
              <a:buFont typeface="Wingdings" panose="05000000000000000000" pitchFamily="2" charset="2"/>
              <a:buChar char="v"/>
            </a:pPr>
            <a:endParaRPr lang="en-HK" dirty="0">
              <a:latin typeface="Poppins Light" panose="00000400000000000000" pitchFamily="2" charset="0"/>
              <a:cs typeface="Poppins Light" panose="00000400000000000000" pitchFamily="2" charset="0"/>
            </a:endParaRPr>
          </a:p>
        </p:txBody>
      </p:sp>
      <p:sp>
        <p:nvSpPr>
          <p:cNvPr id="6" name="Slide Number Placeholder 5">
            <a:extLst>
              <a:ext uri="{FF2B5EF4-FFF2-40B4-BE49-F238E27FC236}">
                <a16:creationId xmlns:a16="http://schemas.microsoft.com/office/drawing/2014/main" id="{92596F77-28A4-F6FF-B7EB-A6680C1D8345}"/>
              </a:ext>
            </a:extLst>
          </p:cNvPr>
          <p:cNvSpPr>
            <a:spLocks noGrp="1"/>
          </p:cNvSpPr>
          <p:nvPr>
            <p:ph type="sldNum" sz="quarter" idx="12"/>
          </p:nvPr>
        </p:nvSpPr>
        <p:spPr/>
        <p:txBody>
          <a:bodyPr/>
          <a:lstStyle/>
          <a:p>
            <a:fld id="{B5CEABB6-07DC-46E8-9B57-56EC44A396E5}" type="slidenum">
              <a:rPr lang="en-US" smtClean="0"/>
              <a:t>2</a:t>
            </a:fld>
            <a:endParaRPr lang="en-US" dirty="0"/>
          </a:p>
        </p:txBody>
      </p:sp>
      <p:sp>
        <p:nvSpPr>
          <p:cNvPr id="15" name="Title 1">
            <a:extLst>
              <a:ext uri="{FF2B5EF4-FFF2-40B4-BE49-F238E27FC236}">
                <a16:creationId xmlns:a16="http://schemas.microsoft.com/office/drawing/2014/main" id="{27517470-B6E3-2E53-0126-5424C9A05ACA}"/>
              </a:ext>
            </a:extLst>
          </p:cNvPr>
          <p:cNvSpPr>
            <a:spLocks noGrp="1"/>
          </p:cNvSpPr>
          <p:nvPr>
            <p:ph type="title"/>
          </p:nvPr>
        </p:nvSpPr>
        <p:spPr>
          <a:xfrm>
            <a:off x="623165" y="369312"/>
            <a:ext cx="5472835" cy="1204912"/>
          </a:xfrm>
        </p:spPr>
        <p:txBody>
          <a:bodyPr>
            <a:normAutofit/>
          </a:bodyPr>
          <a:lstStyle/>
          <a:p>
            <a:r>
              <a:rPr lang="en-HK" sz="3000" b="1" dirty="0">
                <a:latin typeface="Poppins" panose="00000500000000000000" pitchFamily="2" charset="0"/>
                <a:cs typeface="Poppins" panose="00000500000000000000" pitchFamily="2" charset="0"/>
              </a:rPr>
              <a:t>AGENDA</a:t>
            </a:r>
          </a:p>
        </p:txBody>
      </p:sp>
    </p:spTree>
    <p:extLst>
      <p:ext uri="{BB962C8B-B14F-4D97-AF65-F5344CB8AC3E}">
        <p14:creationId xmlns:p14="http://schemas.microsoft.com/office/powerpoint/2010/main" val="3240742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623CB-2E2B-C7E1-86DD-13E902C422ED}"/>
              </a:ext>
            </a:extLst>
          </p:cNvPr>
          <p:cNvSpPr>
            <a:spLocks noGrp="1"/>
          </p:cNvSpPr>
          <p:nvPr>
            <p:ph type="title"/>
          </p:nvPr>
        </p:nvSpPr>
        <p:spPr>
          <a:xfrm>
            <a:off x="623165" y="369311"/>
            <a:ext cx="8482334" cy="1293233"/>
          </a:xfrm>
        </p:spPr>
        <p:txBody>
          <a:bodyPr>
            <a:noAutofit/>
          </a:bodyPr>
          <a:lstStyle/>
          <a:p>
            <a:r>
              <a:rPr lang="en-HK" sz="3000" b="1" dirty="0">
                <a:latin typeface="Poppins" panose="00000500000000000000" pitchFamily="2" charset="0"/>
                <a:cs typeface="Poppins" panose="00000500000000000000" pitchFamily="2" charset="0"/>
              </a:rPr>
              <a:t>PROJECT OVERVIEW</a:t>
            </a:r>
          </a:p>
        </p:txBody>
      </p:sp>
      <p:sp>
        <p:nvSpPr>
          <p:cNvPr id="3" name="Text Placeholder 2">
            <a:extLst>
              <a:ext uri="{FF2B5EF4-FFF2-40B4-BE49-F238E27FC236}">
                <a16:creationId xmlns:a16="http://schemas.microsoft.com/office/drawing/2014/main" id="{4A667867-3F73-9988-12CF-4D52922DC8E8}"/>
              </a:ext>
            </a:extLst>
          </p:cNvPr>
          <p:cNvSpPr>
            <a:spLocks noGrp="1"/>
          </p:cNvSpPr>
          <p:nvPr>
            <p:ph type="body" idx="1"/>
          </p:nvPr>
        </p:nvSpPr>
        <p:spPr>
          <a:xfrm>
            <a:off x="623165" y="2175309"/>
            <a:ext cx="9148908" cy="4181041"/>
          </a:xfrm>
        </p:spPr>
        <p:txBody>
          <a:bodyPr>
            <a:normAutofit/>
          </a:bodyPr>
          <a:lstStyle/>
          <a:p>
            <a:r>
              <a:rPr lang="en-HK" dirty="0">
                <a:latin typeface="Poppins Light" panose="00000400000000000000" pitchFamily="2" charset="0"/>
                <a:cs typeface="Poppins Light" panose="00000400000000000000" pitchFamily="2" charset="0"/>
              </a:rPr>
              <a:t>As Turtle Games moves beyond its inaugural year, it is critical for us to leverage our customer intelligence to inform our upcoming sales strategies. Our analysis focused on four key pillars to scale our performance. </a:t>
            </a:r>
          </a:p>
          <a:p>
            <a:r>
              <a:rPr lang="en-HK" b="1" dirty="0">
                <a:latin typeface="Poppins" panose="00000500000000000000" pitchFamily="2" charset="0"/>
                <a:cs typeface="Poppins" panose="00000500000000000000" pitchFamily="2" charset="0"/>
              </a:rPr>
              <a:t>KEY OBJECTIVES</a:t>
            </a:r>
          </a:p>
          <a:p>
            <a:pPr marL="342900" indent="-342900">
              <a:buFont typeface="+mj-lt"/>
              <a:buAutoNum type="arabicPeriod"/>
            </a:pPr>
            <a:r>
              <a:rPr lang="en-HK" b="1" dirty="0">
                <a:latin typeface="Poppins Light" panose="00000400000000000000" pitchFamily="2" charset="0"/>
                <a:cs typeface="Poppins Light" panose="00000400000000000000" pitchFamily="2" charset="0"/>
              </a:rPr>
              <a:t>Loyalty Drivers</a:t>
            </a:r>
            <a:br>
              <a:rPr lang="en-HK" dirty="0">
                <a:latin typeface="Poppins" panose="00000500000000000000" pitchFamily="2" charset="0"/>
                <a:cs typeface="Poppins" panose="00000500000000000000" pitchFamily="2" charset="0"/>
              </a:rPr>
            </a:br>
            <a:r>
              <a:rPr lang="en-HK" dirty="0">
                <a:latin typeface="Poppins Light" panose="00000400000000000000" pitchFamily="2" charset="0"/>
                <a:cs typeface="Poppins Light" panose="00000400000000000000" pitchFamily="2" charset="0"/>
              </a:rPr>
              <a:t>Determine the primary behavioural factors that drive loyalty point accumulation</a:t>
            </a:r>
          </a:p>
          <a:p>
            <a:pPr marL="342900" indent="-342900">
              <a:buFont typeface="+mj-lt"/>
              <a:buAutoNum type="arabicPeriod"/>
            </a:pPr>
            <a:r>
              <a:rPr lang="en-HK" b="1" dirty="0">
                <a:latin typeface="Poppins Light" panose="00000400000000000000" pitchFamily="2" charset="0"/>
                <a:cs typeface="Poppins Light" panose="00000400000000000000" pitchFamily="2" charset="0"/>
              </a:rPr>
              <a:t>Customer Profiling</a:t>
            </a:r>
            <a:br>
              <a:rPr lang="en-HK" b="1" dirty="0">
                <a:latin typeface="Poppins Light" panose="00000400000000000000" pitchFamily="2" charset="0"/>
                <a:cs typeface="Poppins Light" panose="00000400000000000000" pitchFamily="2" charset="0"/>
              </a:rPr>
            </a:br>
            <a:r>
              <a:rPr lang="en-HK" dirty="0">
                <a:latin typeface="Poppins Light" panose="00000400000000000000" pitchFamily="2" charset="0"/>
                <a:cs typeface="Poppins Light" panose="00000400000000000000" pitchFamily="2" charset="0"/>
              </a:rPr>
              <a:t>Identify specific customer personas we should be targeting</a:t>
            </a:r>
          </a:p>
          <a:p>
            <a:pPr marL="342900" indent="-342900">
              <a:buFont typeface="+mj-lt"/>
              <a:buAutoNum type="arabicPeriod"/>
            </a:pPr>
            <a:r>
              <a:rPr lang="en-HK" b="1" dirty="0">
                <a:latin typeface="Poppins Light" panose="00000400000000000000" pitchFamily="2" charset="0"/>
                <a:cs typeface="Poppins Light" panose="00000400000000000000" pitchFamily="2" charset="0"/>
              </a:rPr>
              <a:t>Customer Feedback</a:t>
            </a:r>
            <a:br>
              <a:rPr lang="en-HK" b="1" dirty="0">
                <a:latin typeface="Poppins Light" panose="00000400000000000000" pitchFamily="2" charset="0"/>
                <a:cs typeface="Poppins Light" panose="00000400000000000000" pitchFamily="2" charset="0"/>
              </a:rPr>
            </a:br>
            <a:r>
              <a:rPr lang="en-HK" dirty="0" err="1">
                <a:latin typeface="Poppins Light" panose="00000400000000000000" pitchFamily="2" charset="0"/>
                <a:cs typeface="Poppins Light" panose="00000400000000000000" pitchFamily="2" charset="0"/>
              </a:rPr>
              <a:t>Distill</a:t>
            </a:r>
            <a:r>
              <a:rPr lang="en-HK" dirty="0">
                <a:latin typeface="Poppins Light" panose="00000400000000000000" pitchFamily="2" charset="0"/>
                <a:cs typeface="Poppins Light" panose="00000400000000000000" pitchFamily="2" charset="0"/>
              </a:rPr>
              <a:t> raw reviews into a clear sentiment pulse to guide marketing campaigns</a:t>
            </a:r>
          </a:p>
          <a:p>
            <a:pPr marL="342900" indent="-342900">
              <a:buFont typeface="+mj-lt"/>
              <a:buAutoNum type="arabicPeriod"/>
            </a:pPr>
            <a:r>
              <a:rPr lang="en-HK" b="1" dirty="0">
                <a:latin typeface="Poppins Light" panose="00000400000000000000" pitchFamily="2" charset="0"/>
                <a:cs typeface="Poppins Light" panose="00000400000000000000" pitchFamily="2" charset="0"/>
              </a:rPr>
              <a:t>Predictive Forecasting</a:t>
            </a:r>
            <a:br>
              <a:rPr lang="en-HK" b="1" dirty="0">
                <a:latin typeface="Poppins Light" panose="00000400000000000000" pitchFamily="2" charset="0"/>
                <a:cs typeface="Poppins Light" panose="00000400000000000000" pitchFamily="2" charset="0"/>
              </a:rPr>
            </a:br>
            <a:r>
              <a:rPr lang="en-HK" dirty="0">
                <a:latin typeface="Poppins Light" panose="00000400000000000000" pitchFamily="2" charset="0"/>
                <a:cs typeface="Poppins Light" panose="00000400000000000000" pitchFamily="2" charset="0"/>
              </a:rPr>
              <a:t>Assess current data’s ability to accurately project future loyalty trends</a:t>
            </a:r>
            <a:endParaRPr lang="en-HK" b="1" dirty="0">
              <a:latin typeface="Poppins Light" panose="00000400000000000000" pitchFamily="2" charset="0"/>
              <a:cs typeface="Poppins Light" panose="00000400000000000000" pitchFamily="2" charset="0"/>
            </a:endParaRPr>
          </a:p>
          <a:p>
            <a:pPr marL="342900" indent="-342900">
              <a:buFont typeface="+mj-lt"/>
              <a:buAutoNum type="arabicPeriod"/>
            </a:pPr>
            <a:endParaRPr lang="en-HK" dirty="0">
              <a:latin typeface="Poppins Light" panose="00000400000000000000" pitchFamily="2" charset="0"/>
              <a:cs typeface="Poppins Light" panose="00000400000000000000" pitchFamily="2" charset="0"/>
            </a:endParaRPr>
          </a:p>
        </p:txBody>
      </p:sp>
      <p:sp>
        <p:nvSpPr>
          <p:cNvPr id="6" name="Slide Number Placeholder 5">
            <a:extLst>
              <a:ext uri="{FF2B5EF4-FFF2-40B4-BE49-F238E27FC236}">
                <a16:creationId xmlns:a16="http://schemas.microsoft.com/office/drawing/2014/main" id="{724A7F0C-3305-DCA7-9FF2-7A6E1961374E}"/>
              </a:ext>
            </a:extLst>
          </p:cNvPr>
          <p:cNvSpPr>
            <a:spLocks noGrp="1"/>
          </p:cNvSpPr>
          <p:nvPr>
            <p:ph type="sldNum" sz="quarter" idx="12"/>
          </p:nvPr>
        </p:nvSpPr>
        <p:spPr/>
        <p:txBody>
          <a:bodyPr/>
          <a:lstStyle/>
          <a:p>
            <a:fld id="{B5CEABB6-07DC-46E8-9B57-56EC44A396E5}" type="slidenum">
              <a:rPr lang="en-US" smtClean="0"/>
              <a:t>3</a:t>
            </a:fld>
            <a:endParaRPr lang="en-US" dirty="0"/>
          </a:p>
        </p:txBody>
      </p:sp>
      <p:sp>
        <p:nvSpPr>
          <p:cNvPr id="4" name="Text Placeholder 2">
            <a:extLst>
              <a:ext uri="{FF2B5EF4-FFF2-40B4-BE49-F238E27FC236}">
                <a16:creationId xmlns:a16="http://schemas.microsoft.com/office/drawing/2014/main" id="{38AF909B-FE6E-F7B3-FE87-FCD047B710C2}"/>
              </a:ext>
            </a:extLst>
          </p:cNvPr>
          <p:cNvSpPr txBox="1">
            <a:spLocks/>
          </p:cNvSpPr>
          <p:nvPr/>
        </p:nvSpPr>
        <p:spPr>
          <a:xfrm>
            <a:off x="623165" y="1662544"/>
            <a:ext cx="9148908" cy="4357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HK" dirty="0">
                <a:latin typeface="Poppins" panose="00000500000000000000" pitchFamily="2" charset="0"/>
                <a:cs typeface="Poppins" panose="00000500000000000000" pitchFamily="2" charset="0"/>
              </a:rPr>
              <a:t>Optimizing Market Performance through Business Intelligence</a:t>
            </a:r>
          </a:p>
        </p:txBody>
      </p:sp>
    </p:spTree>
    <p:extLst>
      <p:ext uri="{BB962C8B-B14F-4D97-AF65-F5344CB8AC3E}">
        <p14:creationId xmlns:p14="http://schemas.microsoft.com/office/powerpoint/2010/main" val="3572343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57E7-821B-EF0A-B4B4-4E8621E98C61}"/>
              </a:ext>
            </a:extLst>
          </p:cNvPr>
          <p:cNvSpPr>
            <a:spLocks noGrp="1"/>
          </p:cNvSpPr>
          <p:nvPr>
            <p:ph type="ctrTitle"/>
          </p:nvPr>
        </p:nvSpPr>
        <p:spPr>
          <a:xfrm>
            <a:off x="5810865" y="2571235"/>
            <a:ext cx="5360055" cy="1715531"/>
          </a:xfrm>
        </p:spPr>
        <p:txBody>
          <a:bodyPr/>
          <a:lstStyle/>
          <a:p>
            <a:r>
              <a:rPr lang="en-HK" sz="3000" dirty="0">
                <a:latin typeface="Poppins Bold" panose="00000800000000000000" pitchFamily="2" charset="0"/>
                <a:cs typeface="Poppins Bold" panose="00000800000000000000" pitchFamily="2" charset="0"/>
              </a:rPr>
              <a:t>The loyalty engine</a:t>
            </a:r>
          </a:p>
        </p:txBody>
      </p:sp>
    </p:spTree>
    <p:extLst>
      <p:ext uri="{BB962C8B-B14F-4D97-AF65-F5344CB8AC3E}">
        <p14:creationId xmlns:p14="http://schemas.microsoft.com/office/powerpoint/2010/main" val="3333940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A1D6D-51DA-14D1-C93A-E54E9E58C855}"/>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33E5197-0D6E-E959-306D-00419282B8B8}"/>
              </a:ext>
            </a:extLst>
          </p:cNvPr>
          <p:cNvSpPr>
            <a:spLocks noGrp="1"/>
          </p:cNvSpPr>
          <p:nvPr>
            <p:ph type="sldNum" sz="quarter" idx="12"/>
          </p:nvPr>
        </p:nvSpPr>
        <p:spPr/>
        <p:txBody>
          <a:bodyPr/>
          <a:lstStyle/>
          <a:p>
            <a:fld id="{B5CEABB6-07DC-46E8-9B57-56EC44A396E5}" type="slidenum">
              <a:rPr lang="en-US" smtClean="0"/>
              <a:t>5</a:t>
            </a:fld>
            <a:endParaRPr lang="en-US" dirty="0"/>
          </a:p>
        </p:txBody>
      </p:sp>
      <p:sp>
        <p:nvSpPr>
          <p:cNvPr id="10" name="Title 1">
            <a:extLst>
              <a:ext uri="{FF2B5EF4-FFF2-40B4-BE49-F238E27FC236}">
                <a16:creationId xmlns:a16="http://schemas.microsoft.com/office/drawing/2014/main" id="{5D9A03B3-AA9F-6EF0-BFAD-60F54504BAD8}"/>
              </a:ext>
            </a:extLst>
          </p:cNvPr>
          <p:cNvSpPr>
            <a:spLocks noGrp="1"/>
          </p:cNvSpPr>
          <p:nvPr>
            <p:ph type="title"/>
          </p:nvPr>
        </p:nvSpPr>
        <p:spPr>
          <a:xfrm>
            <a:off x="623165" y="138305"/>
            <a:ext cx="7987435" cy="1204912"/>
          </a:xfrm>
        </p:spPr>
        <p:txBody>
          <a:bodyPr>
            <a:normAutofit/>
          </a:bodyPr>
          <a:lstStyle/>
          <a:p>
            <a:r>
              <a:rPr lang="en-HK" sz="3000" dirty="0">
                <a:latin typeface="Poppins Bold" panose="00000800000000000000" pitchFamily="2" charset="0"/>
                <a:cs typeface="Poppins Bold" panose="00000800000000000000" pitchFamily="2" charset="0"/>
              </a:rPr>
              <a:t>IDENTIFYING THE VALUE DRIVERS</a:t>
            </a:r>
          </a:p>
        </p:txBody>
      </p:sp>
      <p:pic>
        <p:nvPicPr>
          <p:cNvPr id="23" name="Picture 22">
            <a:extLst>
              <a:ext uri="{FF2B5EF4-FFF2-40B4-BE49-F238E27FC236}">
                <a16:creationId xmlns:a16="http://schemas.microsoft.com/office/drawing/2014/main" id="{557A495C-76F6-0887-AB47-B6ECEB5D1803}"/>
              </a:ext>
            </a:extLst>
          </p:cNvPr>
          <p:cNvPicPr>
            <a:picLocks noChangeAspect="1"/>
          </p:cNvPicPr>
          <p:nvPr/>
        </p:nvPicPr>
        <p:blipFill>
          <a:blip r:embed="rId3"/>
          <a:stretch>
            <a:fillRect/>
          </a:stretch>
        </p:blipFill>
        <p:spPr>
          <a:xfrm>
            <a:off x="424356" y="1343217"/>
            <a:ext cx="7210419" cy="4752783"/>
          </a:xfrm>
          <a:prstGeom prst="rect">
            <a:avLst/>
          </a:prstGeom>
        </p:spPr>
      </p:pic>
      <p:sp>
        <p:nvSpPr>
          <p:cNvPr id="29" name="TextBox 28">
            <a:extLst>
              <a:ext uri="{FF2B5EF4-FFF2-40B4-BE49-F238E27FC236}">
                <a16:creationId xmlns:a16="http://schemas.microsoft.com/office/drawing/2014/main" id="{76F17D6E-0C83-4A64-EFE3-65925B5A83B0}"/>
              </a:ext>
            </a:extLst>
          </p:cNvPr>
          <p:cNvSpPr txBox="1"/>
          <p:nvPr/>
        </p:nvSpPr>
        <p:spPr>
          <a:xfrm>
            <a:off x="7634775" y="2002657"/>
            <a:ext cx="4252425" cy="1384995"/>
          </a:xfrm>
          <a:prstGeom prst="rect">
            <a:avLst/>
          </a:prstGeom>
          <a:noFill/>
        </p:spPr>
        <p:txBody>
          <a:bodyPr wrap="square" rtlCol="0">
            <a:spAutoFit/>
          </a:bodyPr>
          <a:lstStyle/>
          <a:p>
            <a:pPr marL="285750" indent="-285750">
              <a:buFont typeface="Arial" panose="020B0604020202020204" pitchFamily="34" charset="0"/>
              <a:buChar char="•"/>
            </a:pPr>
            <a:r>
              <a:rPr lang="en-HK" sz="1400" dirty="0">
                <a:latin typeface="Poppins Light" panose="00000400000000000000" pitchFamily="2" charset="0"/>
                <a:cs typeface="Poppins Light" panose="00000400000000000000" pitchFamily="2" charset="0"/>
              </a:rPr>
              <a:t>Age, Gender, and Education showed zero predictive power</a:t>
            </a:r>
          </a:p>
          <a:p>
            <a:endParaRPr lang="en-HK" sz="1400" dirty="0">
              <a:latin typeface="Poppins Light" panose="00000400000000000000" pitchFamily="2" charset="0"/>
              <a:cs typeface="Poppins Light" panose="00000400000000000000" pitchFamily="2" charset="0"/>
            </a:endParaRPr>
          </a:p>
          <a:p>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400" dirty="0">
                <a:latin typeface="Poppins Light" panose="00000400000000000000" pitchFamily="2" charset="0"/>
                <a:cs typeface="Poppins Light" panose="00000400000000000000" pitchFamily="2" charset="0"/>
              </a:rPr>
              <a:t>Spending and Remuneration are the only statistically significant drivers</a:t>
            </a:r>
          </a:p>
        </p:txBody>
      </p:sp>
      <p:sp>
        <p:nvSpPr>
          <p:cNvPr id="30" name="TextBox 29">
            <a:extLst>
              <a:ext uri="{FF2B5EF4-FFF2-40B4-BE49-F238E27FC236}">
                <a16:creationId xmlns:a16="http://schemas.microsoft.com/office/drawing/2014/main" id="{81E7ABD4-116C-8323-5A21-255F48882596}"/>
              </a:ext>
            </a:extLst>
          </p:cNvPr>
          <p:cNvSpPr txBox="1"/>
          <p:nvPr/>
        </p:nvSpPr>
        <p:spPr>
          <a:xfrm>
            <a:off x="7634775" y="1503660"/>
            <a:ext cx="4252425" cy="338554"/>
          </a:xfrm>
          <a:prstGeom prst="rect">
            <a:avLst/>
          </a:prstGeom>
          <a:noFill/>
        </p:spPr>
        <p:txBody>
          <a:bodyPr wrap="square" rtlCol="0">
            <a:spAutoFit/>
          </a:bodyPr>
          <a:lstStyle/>
          <a:p>
            <a:r>
              <a:rPr lang="en-HK" sz="1600" b="1" dirty="0">
                <a:latin typeface="Poppins" panose="00000500000000000000" pitchFamily="2" charset="0"/>
                <a:cs typeface="Poppins" panose="00000500000000000000" pitchFamily="2" charset="0"/>
              </a:rPr>
              <a:t>The Strategic Filter</a:t>
            </a:r>
          </a:p>
        </p:txBody>
      </p:sp>
    </p:spTree>
    <p:extLst>
      <p:ext uri="{BB962C8B-B14F-4D97-AF65-F5344CB8AC3E}">
        <p14:creationId xmlns:p14="http://schemas.microsoft.com/office/powerpoint/2010/main" val="120834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B322D54-4C42-DCDC-4846-93B5C11C814B}"/>
              </a:ext>
            </a:extLst>
          </p:cNvPr>
          <p:cNvSpPr>
            <a:spLocks noGrp="1"/>
          </p:cNvSpPr>
          <p:nvPr>
            <p:ph type="sldNum" sz="quarter" idx="12"/>
          </p:nvPr>
        </p:nvSpPr>
        <p:spPr/>
        <p:txBody>
          <a:bodyPr/>
          <a:lstStyle/>
          <a:p>
            <a:fld id="{B5CEABB6-07DC-46E8-9B57-56EC44A396E5}" type="slidenum">
              <a:rPr lang="en-US" smtClean="0"/>
              <a:t>6</a:t>
            </a:fld>
            <a:endParaRPr lang="en-US" dirty="0"/>
          </a:p>
        </p:txBody>
      </p:sp>
      <p:sp>
        <p:nvSpPr>
          <p:cNvPr id="14" name="Title 1">
            <a:extLst>
              <a:ext uri="{FF2B5EF4-FFF2-40B4-BE49-F238E27FC236}">
                <a16:creationId xmlns:a16="http://schemas.microsoft.com/office/drawing/2014/main" id="{E0618E42-FC44-6E8C-FA93-A4098CC54AB3}"/>
              </a:ext>
            </a:extLst>
          </p:cNvPr>
          <p:cNvSpPr>
            <a:spLocks noGrp="1"/>
          </p:cNvSpPr>
          <p:nvPr>
            <p:ph type="title"/>
          </p:nvPr>
        </p:nvSpPr>
        <p:spPr>
          <a:xfrm>
            <a:off x="623165" y="680370"/>
            <a:ext cx="7987435" cy="535464"/>
          </a:xfrm>
        </p:spPr>
        <p:txBody>
          <a:bodyPr>
            <a:normAutofit/>
          </a:bodyPr>
          <a:lstStyle/>
          <a:p>
            <a:r>
              <a:rPr lang="en-HK" sz="3000" dirty="0">
                <a:latin typeface="Poppins Bold" panose="00000800000000000000" pitchFamily="2" charset="0"/>
                <a:cs typeface="Poppins Bold" panose="00000800000000000000" pitchFamily="2" charset="0"/>
              </a:rPr>
              <a:t>PRIMARY DRIVERS OF LOYALTY</a:t>
            </a:r>
          </a:p>
        </p:txBody>
      </p:sp>
      <p:pic>
        <p:nvPicPr>
          <p:cNvPr id="16" name="Picture 15">
            <a:extLst>
              <a:ext uri="{FF2B5EF4-FFF2-40B4-BE49-F238E27FC236}">
                <a16:creationId xmlns:a16="http://schemas.microsoft.com/office/drawing/2014/main" id="{62332EAD-78BC-48EE-023F-67B069E4B334}"/>
              </a:ext>
            </a:extLst>
          </p:cNvPr>
          <p:cNvPicPr>
            <a:picLocks noChangeAspect="1"/>
          </p:cNvPicPr>
          <p:nvPr/>
        </p:nvPicPr>
        <p:blipFill>
          <a:blip r:embed="rId3"/>
          <a:stretch>
            <a:fillRect/>
          </a:stretch>
        </p:blipFill>
        <p:spPr>
          <a:xfrm>
            <a:off x="623165" y="1215834"/>
            <a:ext cx="4923853" cy="2637250"/>
          </a:xfrm>
          <a:prstGeom prst="rect">
            <a:avLst/>
          </a:prstGeom>
          <a:ln>
            <a:solidFill>
              <a:schemeClr val="accent3"/>
            </a:solidFill>
          </a:ln>
        </p:spPr>
      </p:pic>
      <p:pic>
        <p:nvPicPr>
          <p:cNvPr id="18" name="Picture 17">
            <a:extLst>
              <a:ext uri="{FF2B5EF4-FFF2-40B4-BE49-F238E27FC236}">
                <a16:creationId xmlns:a16="http://schemas.microsoft.com/office/drawing/2014/main" id="{A4DDDB77-AD5A-7588-6070-66DDF90D2244}"/>
              </a:ext>
            </a:extLst>
          </p:cNvPr>
          <p:cNvPicPr>
            <a:picLocks noChangeAspect="1"/>
          </p:cNvPicPr>
          <p:nvPr/>
        </p:nvPicPr>
        <p:blipFill>
          <a:blip r:embed="rId4"/>
          <a:stretch>
            <a:fillRect/>
          </a:stretch>
        </p:blipFill>
        <p:spPr>
          <a:xfrm>
            <a:off x="623165" y="3975162"/>
            <a:ext cx="4923853" cy="2637250"/>
          </a:xfrm>
          <a:prstGeom prst="rect">
            <a:avLst/>
          </a:prstGeom>
          <a:ln>
            <a:solidFill>
              <a:schemeClr val="accent3"/>
            </a:solidFill>
          </a:ln>
        </p:spPr>
      </p:pic>
      <p:sp>
        <p:nvSpPr>
          <p:cNvPr id="23" name="TextBox 22">
            <a:extLst>
              <a:ext uri="{FF2B5EF4-FFF2-40B4-BE49-F238E27FC236}">
                <a16:creationId xmlns:a16="http://schemas.microsoft.com/office/drawing/2014/main" id="{7558837C-F243-C55B-7545-B8375234A0A7}"/>
              </a:ext>
            </a:extLst>
          </p:cNvPr>
          <p:cNvSpPr txBox="1"/>
          <p:nvPr/>
        </p:nvSpPr>
        <p:spPr>
          <a:xfrm>
            <a:off x="5724810" y="1215834"/>
            <a:ext cx="5742979" cy="4832092"/>
          </a:xfrm>
          <a:prstGeom prst="rect">
            <a:avLst/>
          </a:prstGeom>
          <a:noFill/>
        </p:spPr>
        <p:txBody>
          <a:bodyPr wrap="square" rtlCol="0">
            <a:spAutoFit/>
          </a:bodyPr>
          <a:lstStyle/>
          <a:p>
            <a:r>
              <a:rPr lang="en-HK" sz="1400" dirty="0">
                <a:latin typeface="Poppins" panose="00000500000000000000" pitchFamily="2" charset="0"/>
                <a:cs typeface="Poppins" panose="00000500000000000000" pitchFamily="2" charset="0"/>
              </a:rPr>
              <a:t>Financial Behaviour Outweighs Demographics</a:t>
            </a:r>
          </a:p>
          <a:p>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400" b="1" dirty="0">
                <a:latin typeface="Poppins Light" panose="00000400000000000000" pitchFamily="2" charset="0"/>
                <a:cs typeface="Poppins Light" panose="00000400000000000000" pitchFamily="2" charset="0"/>
              </a:rPr>
              <a:t>The Trend</a:t>
            </a:r>
            <a:r>
              <a:rPr lang="en-HK" sz="1400" dirty="0">
                <a:latin typeface="Poppins Light" panose="00000400000000000000" pitchFamily="2" charset="0"/>
                <a:cs typeface="Poppins Light" panose="00000400000000000000" pitchFamily="2" charset="0"/>
              </a:rPr>
              <a:t> </a:t>
            </a:r>
            <a:br>
              <a:rPr lang="en-HK" sz="1400" dirty="0">
                <a:latin typeface="Poppins Light" panose="00000400000000000000" pitchFamily="2" charset="0"/>
                <a:cs typeface="Poppins Light" panose="00000400000000000000" pitchFamily="2" charset="0"/>
              </a:rPr>
            </a:br>
            <a:r>
              <a:rPr lang="en-HK" sz="1400" dirty="0">
                <a:latin typeface="Poppins Light" panose="00000400000000000000" pitchFamily="2" charset="0"/>
                <a:cs typeface="Poppins Light" panose="00000400000000000000" pitchFamily="2" charset="0"/>
              </a:rPr>
              <a:t>Both Spending Score and Remuneration show strong positive correlations with loyalty points</a:t>
            </a:r>
            <a:br>
              <a:rPr lang="en-HK" sz="1400" dirty="0">
                <a:latin typeface="Poppins Light" panose="00000400000000000000" pitchFamily="2" charset="0"/>
                <a:cs typeface="Poppins Light" panose="00000400000000000000" pitchFamily="2" charset="0"/>
              </a:rPr>
            </a:br>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400" b="1" dirty="0">
                <a:latin typeface="Poppins Light" panose="00000400000000000000" pitchFamily="2" charset="0"/>
                <a:cs typeface="Poppins Light" panose="00000400000000000000" pitchFamily="2" charset="0"/>
              </a:rPr>
              <a:t>The Fanning Effect</a:t>
            </a:r>
            <a:br>
              <a:rPr lang="en-HK" sz="1400" b="1" dirty="0">
                <a:latin typeface="Poppins Light" panose="00000400000000000000" pitchFamily="2" charset="0"/>
                <a:cs typeface="Poppins Light" panose="00000400000000000000" pitchFamily="2" charset="0"/>
              </a:rPr>
            </a:br>
            <a:r>
              <a:rPr lang="en-HK" sz="1400" dirty="0">
                <a:latin typeface="Poppins Light" panose="00000400000000000000" pitchFamily="2" charset="0"/>
                <a:cs typeface="Poppins Light" panose="00000400000000000000" pitchFamily="2" charset="0"/>
              </a:rPr>
              <a:t>High-income and high-spending levels exhibit increased variance, revealing two distinct high-value segments</a:t>
            </a:r>
            <a:br>
              <a:rPr lang="en-HK" sz="1400" dirty="0">
                <a:latin typeface="Poppins Light" panose="00000400000000000000" pitchFamily="2" charset="0"/>
                <a:cs typeface="Poppins Light" panose="00000400000000000000" pitchFamily="2" charset="0"/>
              </a:rPr>
            </a:br>
            <a:endParaRPr lang="en-HK" sz="1400" dirty="0">
              <a:latin typeface="Poppins Light" panose="00000400000000000000" pitchFamily="2" charset="0"/>
              <a:cs typeface="Poppins Light" panose="00000400000000000000" pitchFamily="2" charset="0"/>
            </a:endParaRPr>
          </a:p>
          <a:p>
            <a:pPr marL="742950" lvl="1" indent="-285750">
              <a:buFont typeface="Arial" panose="020B0604020202020204" pitchFamily="34" charset="0"/>
              <a:buChar char="•"/>
            </a:pPr>
            <a:r>
              <a:rPr lang="en-HK" sz="1400" dirty="0">
                <a:latin typeface="Poppins Light" panose="00000400000000000000" pitchFamily="2" charset="0"/>
                <a:cs typeface="Poppins Light" panose="00000400000000000000" pitchFamily="2" charset="0"/>
              </a:rPr>
              <a:t>High Velocity Earners: </a:t>
            </a:r>
            <a:br>
              <a:rPr lang="en-HK" sz="1400" dirty="0">
                <a:latin typeface="Poppins Light" panose="00000400000000000000" pitchFamily="2" charset="0"/>
                <a:cs typeface="Poppins Light" panose="00000400000000000000" pitchFamily="2" charset="0"/>
              </a:rPr>
            </a:br>
            <a:r>
              <a:rPr lang="en-US" sz="1400" dirty="0">
                <a:latin typeface="Poppins Light" panose="00000400000000000000" pitchFamily="2" charset="0"/>
                <a:cs typeface="Poppins Light" panose="00000400000000000000" pitchFamily="2" charset="0"/>
              </a:rPr>
              <a:t>High-income (£55k+) and high-spending (Score &gt; 63) customers who accumulate 2,000+ points at an accelerated pace.</a:t>
            </a:r>
            <a:br>
              <a:rPr lang="en-US" sz="1400" dirty="0">
                <a:latin typeface="Poppins Light" panose="00000400000000000000" pitchFamily="2" charset="0"/>
                <a:cs typeface="Poppins Light" panose="00000400000000000000" pitchFamily="2" charset="0"/>
              </a:rPr>
            </a:br>
            <a:endParaRPr lang="en-US" sz="1400" dirty="0">
              <a:latin typeface="Poppins Light" panose="00000400000000000000" pitchFamily="2" charset="0"/>
              <a:cs typeface="Poppins Light" panose="00000400000000000000" pitchFamily="2" charset="0"/>
            </a:endParaRPr>
          </a:p>
          <a:p>
            <a:pPr marL="742950" lvl="1" indent="-285750">
              <a:buFont typeface="Arial" panose="020B0604020202020204" pitchFamily="34" charset="0"/>
              <a:buChar char="•"/>
            </a:pPr>
            <a:r>
              <a:rPr lang="en-US" sz="1400" dirty="0">
                <a:latin typeface="Poppins Light" panose="00000400000000000000" pitchFamily="2" charset="0"/>
                <a:cs typeface="Poppins Light" panose="00000400000000000000" pitchFamily="2" charset="0"/>
              </a:rPr>
              <a:t>Conservative Earners: </a:t>
            </a:r>
            <a:br>
              <a:rPr lang="en-US" sz="1400" dirty="0">
                <a:latin typeface="Poppins Light" panose="00000400000000000000" pitchFamily="2" charset="0"/>
                <a:cs typeface="Poppins Light" panose="00000400000000000000" pitchFamily="2" charset="0"/>
              </a:rPr>
            </a:br>
            <a:r>
              <a:rPr lang="en-US" sz="1400" dirty="0">
                <a:latin typeface="Poppins Light" panose="00000400000000000000" pitchFamily="2" charset="0"/>
                <a:cs typeface="Poppins Light" panose="00000400000000000000" pitchFamily="2" charset="0"/>
              </a:rPr>
              <a:t>Customers in the same financial bracket who remain under the 2,000-point threshold despite having the capacity to spend.</a:t>
            </a:r>
          </a:p>
          <a:p>
            <a:pPr marL="742950" lvl="1" indent="-285750">
              <a:buFont typeface="Arial" panose="020B0604020202020204" pitchFamily="34" charset="0"/>
              <a:buChar char="•"/>
            </a:pPr>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endParaRPr lang="en-HK" sz="1400" dirty="0">
              <a:latin typeface="Poppins Light" panose="00000400000000000000" pitchFamily="2" charset="0"/>
              <a:cs typeface="Poppins Light" panose="00000400000000000000" pitchFamily="2" charset="0"/>
            </a:endParaRPr>
          </a:p>
          <a:p>
            <a:pPr marL="742950" lvl="1" indent="-285750">
              <a:buFont typeface="Arial" panose="020B0604020202020204" pitchFamily="34" charset="0"/>
              <a:buChar char="•"/>
            </a:pPr>
            <a:endParaRPr lang="en-HK" sz="1400"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334978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4CE73-0144-ED6E-3858-1E6E5DE6E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93244-BC1D-86A0-B572-7F843F06454F}"/>
              </a:ext>
            </a:extLst>
          </p:cNvPr>
          <p:cNvSpPr>
            <a:spLocks noGrp="1"/>
          </p:cNvSpPr>
          <p:nvPr>
            <p:ph type="ctrTitle"/>
          </p:nvPr>
        </p:nvSpPr>
        <p:spPr>
          <a:xfrm>
            <a:off x="5810865" y="2571235"/>
            <a:ext cx="5360055" cy="1715531"/>
          </a:xfrm>
        </p:spPr>
        <p:txBody>
          <a:bodyPr/>
          <a:lstStyle/>
          <a:p>
            <a:r>
              <a:rPr lang="en-HK" sz="3000" dirty="0">
                <a:latin typeface="Poppins Bold" panose="00000800000000000000" pitchFamily="2" charset="0"/>
                <a:cs typeface="Poppins Bold" panose="00000800000000000000" pitchFamily="2" charset="0"/>
              </a:rPr>
              <a:t>CUSTOMER PERSONAS</a:t>
            </a:r>
          </a:p>
        </p:txBody>
      </p:sp>
    </p:spTree>
    <p:extLst>
      <p:ext uri="{BB962C8B-B14F-4D97-AF65-F5344CB8AC3E}">
        <p14:creationId xmlns:p14="http://schemas.microsoft.com/office/powerpoint/2010/main" val="1580346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7B027-A98D-B2C4-B9E6-6534627F86CC}"/>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EEA5EE3E-1656-F05B-E4F1-E649570A0373}"/>
              </a:ext>
            </a:extLst>
          </p:cNvPr>
          <p:cNvSpPr>
            <a:spLocks noGrp="1"/>
          </p:cNvSpPr>
          <p:nvPr>
            <p:ph type="sldNum" sz="quarter" idx="12"/>
          </p:nvPr>
        </p:nvSpPr>
        <p:spPr/>
        <p:txBody>
          <a:bodyPr/>
          <a:lstStyle/>
          <a:p>
            <a:fld id="{B5CEABB6-07DC-46E8-9B57-56EC44A396E5}" type="slidenum">
              <a:rPr lang="en-US" smtClean="0"/>
              <a:t>8</a:t>
            </a:fld>
            <a:endParaRPr lang="en-US" dirty="0"/>
          </a:p>
        </p:txBody>
      </p:sp>
      <p:sp>
        <p:nvSpPr>
          <p:cNvPr id="17" name="Title 1">
            <a:extLst>
              <a:ext uri="{FF2B5EF4-FFF2-40B4-BE49-F238E27FC236}">
                <a16:creationId xmlns:a16="http://schemas.microsoft.com/office/drawing/2014/main" id="{1E9DC811-9414-2AA8-9E28-261221E64FD7}"/>
              </a:ext>
            </a:extLst>
          </p:cNvPr>
          <p:cNvSpPr>
            <a:spLocks noGrp="1"/>
          </p:cNvSpPr>
          <p:nvPr>
            <p:ph type="title"/>
          </p:nvPr>
        </p:nvSpPr>
        <p:spPr>
          <a:xfrm>
            <a:off x="623165" y="680370"/>
            <a:ext cx="7987435" cy="535464"/>
          </a:xfrm>
        </p:spPr>
        <p:txBody>
          <a:bodyPr>
            <a:normAutofit/>
          </a:bodyPr>
          <a:lstStyle/>
          <a:p>
            <a:r>
              <a:rPr lang="en-HK" sz="3000" dirty="0">
                <a:latin typeface="Poppins Bold" panose="00000800000000000000" pitchFamily="2" charset="0"/>
                <a:cs typeface="Poppins Bold" panose="00000800000000000000" pitchFamily="2" charset="0"/>
              </a:rPr>
              <a:t>STRATEGIC PERSONAS </a:t>
            </a:r>
          </a:p>
        </p:txBody>
      </p:sp>
      <p:pic>
        <p:nvPicPr>
          <p:cNvPr id="2" name="Picture 1">
            <a:extLst>
              <a:ext uri="{FF2B5EF4-FFF2-40B4-BE49-F238E27FC236}">
                <a16:creationId xmlns:a16="http://schemas.microsoft.com/office/drawing/2014/main" id="{618FB4A2-C3CD-C87D-9F11-10367C91DEAF}"/>
              </a:ext>
            </a:extLst>
          </p:cNvPr>
          <p:cNvPicPr>
            <a:picLocks noChangeAspect="1"/>
          </p:cNvPicPr>
          <p:nvPr/>
        </p:nvPicPr>
        <p:blipFill>
          <a:blip r:embed="rId2"/>
          <a:stretch>
            <a:fillRect/>
          </a:stretch>
        </p:blipFill>
        <p:spPr>
          <a:xfrm>
            <a:off x="718563" y="1413179"/>
            <a:ext cx="4339012" cy="4277994"/>
          </a:xfrm>
          <a:prstGeom prst="rect">
            <a:avLst/>
          </a:prstGeom>
          <a:ln>
            <a:solidFill>
              <a:schemeClr val="accent3"/>
            </a:solidFill>
          </a:ln>
        </p:spPr>
      </p:pic>
      <p:sp>
        <p:nvSpPr>
          <p:cNvPr id="3" name="TextBox 2">
            <a:extLst>
              <a:ext uri="{FF2B5EF4-FFF2-40B4-BE49-F238E27FC236}">
                <a16:creationId xmlns:a16="http://schemas.microsoft.com/office/drawing/2014/main" id="{B45D5C61-0259-7F7E-2790-F2B8A6CC4B0D}"/>
              </a:ext>
            </a:extLst>
          </p:cNvPr>
          <p:cNvSpPr txBox="1"/>
          <p:nvPr/>
        </p:nvSpPr>
        <p:spPr>
          <a:xfrm>
            <a:off x="5322756" y="1413179"/>
            <a:ext cx="6150681" cy="4401205"/>
          </a:xfrm>
          <a:prstGeom prst="rect">
            <a:avLst/>
          </a:prstGeom>
          <a:noFill/>
        </p:spPr>
        <p:txBody>
          <a:bodyPr wrap="square" rtlCol="0">
            <a:spAutoFit/>
          </a:bodyPr>
          <a:lstStyle/>
          <a:p>
            <a:r>
              <a:rPr lang="en-HK" sz="1400" dirty="0">
                <a:latin typeface="Poppins" panose="00000500000000000000" pitchFamily="2" charset="0"/>
                <a:cs typeface="Poppins" panose="00000500000000000000" pitchFamily="2" charset="0"/>
              </a:rPr>
              <a:t>Customer Segment Profiles</a:t>
            </a:r>
          </a:p>
          <a:p>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400" b="1" dirty="0">
                <a:latin typeface="Poppins Light" panose="00000400000000000000" pitchFamily="2" charset="0"/>
                <a:cs typeface="Poppins Light" panose="00000400000000000000" pitchFamily="2" charset="0"/>
              </a:rPr>
              <a:t>Segment 0 (Premium Spenders – 17.8%)</a:t>
            </a:r>
            <a:br>
              <a:rPr lang="en-HK" sz="1400" dirty="0">
                <a:latin typeface="Poppins Light" panose="00000400000000000000" pitchFamily="2" charset="0"/>
                <a:cs typeface="Poppins Light" panose="00000400000000000000" pitchFamily="2" charset="0"/>
              </a:rPr>
            </a:br>
            <a:r>
              <a:rPr lang="en-HK" sz="1400" dirty="0">
                <a:latin typeface="Poppins Light" panose="00000400000000000000" pitchFamily="2" charset="0"/>
                <a:cs typeface="Poppins Light" panose="00000400000000000000" pitchFamily="2" charset="0"/>
              </a:rPr>
              <a:t>High Remuneration (£55k – £100k) and high Spending Scores (65 – 95)</a:t>
            </a:r>
            <a:br>
              <a:rPr lang="en-HK" sz="1400" dirty="0">
                <a:latin typeface="Poppins Light" panose="00000400000000000000" pitchFamily="2" charset="0"/>
                <a:cs typeface="Poppins Light" panose="00000400000000000000" pitchFamily="2" charset="0"/>
              </a:rPr>
            </a:br>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400" b="1" dirty="0">
                <a:latin typeface="Poppins Light" panose="00000400000000000000" pitchFamily="2" charset="0"/>
                <a:cs typeface="Poppins Light" panose="00000400000000000000" pitchFamily="2" charset="0"/>
              </a:rPr>
              <a:t>Segment 1 (Core Customer Base – 38.7%)  </a:t>
            </a:r>
            <a:br>
              <a:rPr lang="en-HK" sz="1400" dirty="0">
                <a:latin typeface="Poppins Light" panose="00000400000000000000" pitchFamily="2" charset="0"/>
                <a:cs typeface="Poppins Light" panose="00000400000000000000" pitchFamily="2" charset="0"/>
              </a:rPr>
            </a:br>
            <a:r>
              <a:rPr lang="en-HK" sz="1400" dirty="0">
                <a:latin typeface="Poppins Light" panose="00000400000000000000" pitchFamily="2" charset="0"/>
                <a:cs typeface="Poppins Light" panose="00000400000000000000" pitchFamily="2" charset="0"/>
              </a:rPr>
              <a:t>Average Remuneration (£30k - £50k) and average Spending Scores (40 – 60)</a:t>
            </a:r>
            <a:br>
              <a:rPr lang="en-HK" sz="1400" dirty="0">
                <a:latin typeface="Poppins Light" panose="00000400000000000000" pitchFamily="2" charset="0"/>
                <a:cs typeface="Poppins Light" panose="00000400000000000000" pitchFamily="2" charset="0"/>
              </a:rPr>
            </a:br>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400" b="1" dirty="0">
                <a:latin typeface="Poppins Light" panose="00000400000000000000" pitchFamily="2" charset="0"/>
                <a:cs typeface="Poppins Light" panose="00000400000000000000" pitchFamily="2" charset="0"/>
              </a:rPr>
              <a:t>Segment 2 (Conservative/High-Savers – 16.5%)</a:t>
            </a:r>
            <a:br>
              <a:rPr lang="en-HK" sz="1400" dirty="0">
                <a:latin typeface="Poppins Light" panose="00000400000000000000" pitchFamily="2" charset="0"/>
                <a:cs typeface="Poppins Light" panose="00000400000000000000" pitchFamily="2" charset="0"/>
              </a:rPr>
            </a:br>
            <a:r>
              <a:rPr lang="en-HK" sz="1400" dirty="0">
                <a:latin typeface="Poppins Light" panose="00000400000000000000" pitchFamily="2" charset="0"/>
                <a:cs typeface="Poppins Light" panose="00000400000000000000" pitchFamily="2" charset="0"/>
              </a:rPr>
              <a:t>High Remuneration (£60k - £ 100k) but low Spending Scores (5 – 35)</a:t>
            </a:r>
            <a:br>
              <a:rPr lang="en-HK" sz="1400" dirty="0">
                <a:latin typeface="Poppins Light" panose="00000400000000000000" pitchFamily="2" charset="0"/>
                <a:cs typeface="Poppins Light" panose="00000400000000000000" pitchFamily="2" charset="0"/>
              </a:rPr>
            </a:br>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400" b="1" dirty="0">
                <a:latin typeface="Poppins Light" panose="00000400000000000000" pitchFamily="2" charset="0"/>
                <a:cs typeface="Poppins Light" panose="00000400000000000000" pitchFamily="2" charset="0"/>
              </a:rPr>
              <a:t>Segment 3 (High Propensity/Low Income – 13.4%)</a:t>
            </a:r>
            <a:br>
              <a:rPr lang="en-HK" sz="1400" dirty="0">
                <a:latin typeface="Poppins Light" panose="00000400000000000000" pitchFamily="2" charset="0"/>
                <a:cs typeface="Poppins Light" panose="00000400000000000000" pitchFamily="2" charset="0"/>
              </a:rPr>
            </a:br>
            <a:r>
              <a:rPr lang="en-HK" sz="1400" dirty="0">
                <a:latin typeface="Poppins Light" panose="00000400000000000000" pitchFamily="2" charset="0"/>
                <a:cs typeface="Poppins Light" panose="00000400000000000000" pitchFamily="2" charset="0"/>
              </a:rPr>
              <a:t>Low Remuneration (£10k - £30k) but high Spending Scores (60 – 100)</a:t>
            </a:r>
            <a:br>
              <a:rPr lang="en-HK" sz="1400" dirty="0">
                <a:latin typeface="Poppins Light" panose="00000400000000000000" pitchFamily="2" charset="0"/>
                <a:cs typeface="Poppins Light" panose="00000400000000000000" pitchFamily="2" charset="0"/>
              </a:rPr>
            </a:br>
            <a:endParaRPr lang="en-HK" sz="14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400" b="1" dirty="0">
                <a:latin typeface="Poppins Light" panose="00000400000000000000" pitchFamily="2" charset="0"/>
                <a:cs typeface="Poppins Light" panose="00000400000000000000" pitchFamily="2" charset="0"/>
              </a:rPr>
              <a:t>Segment 4 (Budget Limited – 13.6%)</a:t>
            </a:r>
            <a:br>
              <a:rPr lang="en-HK" sz="1400" dirty="0">
                <a:latin typeface="Poppins Light" panose="00000400000000000000" pitchFamily="2" charset="0"/>
                <a:cs typeface="Poppins Light" panose="00000400000000000000" pitchFamily="2" charset="0"/>
              </a:rPr>
            </a:br>
            <a:r>
              <a:rPr lang="en-HK" sz="1400" dirty="0">
                <a:latin typeface="Poppins Light" panose="00000400000000000000" pitchFamily="2" charset="0"/>
                <a:cs typeface="Poppins Light" panose="00000400000000000000" pitchFamily="2" charset="0"/>
              </a:rPr>
              <a:t>Low Remuneration (£10 - £30) and low Spending Scores (5 – 40)</a:t>
            </a:r>
          </a:p>
        </p:txBody>
      </p:sp>
    </p:spTree>
    <p:extLst>
      <p:ext uri="{BB962C8B-B14F-4D97-AF65-F5344CB8AC3E}">
        <p14:creationId xmlns:p14="http://schemas.microsoft.com/office/powerpoint/2010/main" val="263829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A3F6A-D68C-D3D2-0F84-0A743CF24E9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666B3FA7-156C-7158-F794-C54BDD5CEA49}"/>
              </a:ext>
            </a:extLst>
          </p:cNvPr>
          <p:cNvSpPr>
            <a:spLocks noGrp="1"/>
          </p:cNvSpPr>
          <p:nvPr>
            <p:ph type="sldNum" sz="quarter" idx="12"/>
          </p:nvPr>
        </p:nvSpPr>
        <p:spPr/>
        <p:txBody>
          <a:bodyPr/>
          <a:lstStyle/>
          <a:p>
            <a:fld id="{B5CEABB6-07DC-46E8-9B57-56EC44A396E5}" type="slidenum">
              <a:rPr lang="en-US" smtClean="0"/>
              <a:t>9</a:t>
            </a:fld>
            <a:endParaRPr lang="en-US" dirty="0"/>
          </a:p>
        </p:txBody>
      </p:sp>
      <p:sp>
        <p:nvSpPr>
          <p:cNvPr id="17" name="Title 1">
            <a:extLst>
              <a:ext uri="{FF2B5EF4-FFF2-40B4-BE49-F238E27FC236}">
                <a16:creationId xmlns:a16="http://schemas.microsoft.com/office/drawing/2014/main" id="{187FCBC2-790C-6698-4367-FFEE5E0AD535}"/>
              </a:ext>
            </a:extLst>
          </p:cNvPr>
          <p:cNvSpPr>
            <a:spLocks noGrp="1"/>
          </p:cNvSpPr>
          <p:nvPr>
            <p:ph type="title"/>
          </p:nvPr>
        </p:nvSpPr>
        <p:spPr>
          <a:xfrm>
            <a:off x="623165" y="680370"/>
            <a:ext cx="7987435" cy="535464"/>
          </a:xfrm>
        </p:spPr>
        <p:txBody>
          <a:bodyPr>
            <a:normAutofit/>
          </a:bodyPr>
          <a:lstStyle/>
          <a:p>
            <a:r>
              <a:rPr lang="en-HK" sz="3000" dirty="0">
                <a:latin typeface="Poppins Bold" panose="00000800000000000000" pitchFamily="2" charset="0"/>
                <a:cs typeface="Poppins Bold" panose="00000800000000000000" pitchFamily="2" charset="0"/>
              </a:rPr>
              <a:t>THE ENGAGEMENT GAP</a:t>
            </a:r>
          </a:p>
        </p:txBody>
      </p:sp>
      <p:pic>
        <p:nvPicPr>
          <p:cNvPr id="16" name="Picture 15">
            <a:extLst>
              <a:ext uri="{FF2B5EF4-FFF2-40B4-BE49-F238E27FC236}">
                <a16:creationId xmlns:a16="http://schemas.microsoft.com/office/drawing/2014/main" id="{7FFA58F7-C8EF-890D-C25E-BEC1DC0AB5CB}"/>
              </a:ext>
            </a:extLst>
          </p:cNvPr>
          <p:cNvPicPr>
            <a:picLocks noChangeAspect="1"/>
          </p:cNvPicPr>
          <p:nvPr/>
        </p:nvPicPr>
        <p:blipFill>
          <a:blip r:embed="rId2"/>
          <a:stretch>
            <a:fillRect/>
          </a:stretch>
        </p:blipFill>
        <p:spPr>
          <a:xfrm>
            <a:off x="584769" y="1647095"/>
            <a:ext cx="6481808" cy="4277994"/>
          </a:xfrm>
          <a:prstGeom prst="rect">
            <a:avLst/>
          </a:prstGeom>
          <a:ln>
            <a:solidFill>
              <a:schemeClr val="accent3"/>
            </a:solidFill>
          </a:ln>
        </p:spPr>
      </p:pic>
      <p:sp>
        <p:nvSpPr>
          <p:cNvPr id="5" name="TextBox 4">
            <a:extLst>
              <a:ext uri="{FF2B5EF4-FFF2-40B4-BE49-F238E27FC236}">
                <a16:creationId xmlns:a16="http://schemas.microsoft.com/office/drawing/2014/main" id="{EE1C0561-06BD-7670-0560-21AF075D7C80}"/>
              </a:ext>
            </a:extLst>
          </p:cNvPr>
          <p:cNvSpPr txBox="1"/>
          <p:nvPr/>
        </p:nvSpPr>
        <p:spPr>
          <a:xfrm>
            <a:off x="7194086" y="1647095"/>
            <a:ext cx="4413145" cy="4616648"/>
          </a:xfrm>
          <a:prstGeom prst="rect">
            <a:avLst/>
          </a:prstGeom>
          <a:noFill/>
        </p:spPr>
        <p:txBody>
          <a:bodyPr wrap="square" rtlCol="0">
            <a:spAutoFit/>
          </a:bodyPr>
          <a:lstStyle/>
          <a:p>
            <a:r>
              <a:rPr lang="en-HK" sz="1400" b="1" dirty="0">
                <a:latin typeface="Poppins" panose="00000500000000000000" pitchFamily="2" charset="0"/>
                <a:cs typeface="Poppins" panose="00000500000000000000" pitchFamily="2" charset="0"/>
              </a:rPr>
              <a:t>The Challenges</a:t>
            </a:r>
          </a:p>
          <a:p>
            <a:endParaRPr lang="en-HK" sz="14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HK" sz="1400" dirty="0">
                <a:latin typeface="Poppins" panose="00000500000000000000" pitchFamily="2" charset="0"/>
                <a:cs typeface="Poppins" panose="00000500000000000000" pitchFamily="2" charset="0"/>
              </a:rPr>
              <a:t>Core Customer Base:</a:t>
            </a:r>
            <a:br>
              <a:rPr lang="en-HK" sz="1400" dirty="0">
                <a:latin typeface="Poppins" panose="00000500000000000000" pitchFamily="2" charset="0"/>
                <a:cs typeface="Poppins" panose="00000500000000000000" pitchFamily="2" charset="0"/>
              </a:rPr>
            </a:br>
            <a:r>
              <a:rPr lang="en-HK" sz="1400" dirty="0">
                <a:latin typeface="Poppins" panose="00000500000000000000" pitchFamily="2" charset="0"/>
                <a:cs typeface="Poppins" panose="00000500000000000000" pitchFamily="2" charset="0"/>
              </a:rPr>
              <a:t>How can we motivate this group of people to spend more? </a:t>
            </a:r>
            <a:br>
              <a:rPr lang="en-HK" sz="1400" dirty="0">
                <a:latin typeface="Poppins" panose="00000500000000000000" pitchFamily="2" charset="0"/>
                <a:cs typeface="Poppins" panose="00000500000000000000" pitchFamily="2" charset="0"/>
              </a:rPr>
            </a:br>
            <a:endParaRPr lang="en-HK" sz="14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HK" sz="1400" dirty="0">
                <a:latin typeface="Poppins" panose="00000500000000000000" pitchFamily="2" charset="0"/>
                <a:cs typeface="Poppins" panose="00000500000000000000" pitchFamily="2" charset="0"/>
              </a:rPr>
              <a:t>Segment 2 Conservative/High Savers : </a:t>
            </a:r>
            <a:br>
              <a:rPr lang="en-HK" sz="1400" dirty="0">
                <a:latin typeface="Poppins" panose="00000500000000000000" pitchFamily="2" charset="0"/>
                <a:cs typeface="Poppins" panose="00000500000000000000" pitchFamily="2" charset="0"/>
              </a:rPr>
            </a:br>
            <a:r>
              <a:rPr lang="en-HK" sz="1400" dirty="0">
                <a:latin typeface="Poppins" panose="00000500000000000000" pitchFamily="2" charset="0"/>
                <a:cs typeface="Poppins" panose="00000500000000000000" pitchFamily="2" charset="0"/>
              </a:rPr>
              <a:t>These customers earn as much as our VIPs but spend like our Budget Limited customers</a:t>
            </a:r>
          </a:p>
          <a:p>
            <a:endParaRPr lang="en-HK" sz="1400" dirty="0">
              <a:latin typeface="Poppins" panose="00000500000000000000" pitchFamily="2" charset="0"/>
              <a:cs typeface="Poppins" panose="00000500000000000000" pitchFamily="2" charset="0"/>
            </a:endParaRPr>
          </a:p>
          <a:p>
            <a:r>
              <a:rPr lang="en-HK" sz="1400" b="1" dirty="0">
                <a:latin typeface="Poppins" panose="00000500000000000000" pitchFamily="2" charset="0"/>
                <a:cs typeface="Poppins" panose="00000500000000000000" pitchFamily="2" charset="0"/>
              </a:rPr>
              <a:t>The Opportunity</a:t>
            </a:r>
          </a:p>
          <a:p>
            <a:pPr marL="285750" indent="-285750">
              <a:buFont typeface="Arial" panose="020B0604020202020204" pitchFamily="34" charset="0"/>
              <a:buChar char="•"/>
            </a:pPr>
            <a:r>
              <a:rPr lang="en-HK" sz="1400" dirty="0">
                <a:latin typeface="Poppins" panose="00000500000000000000" pitchFamily="2" charset="0"/>
                <a:cs typeface="Poppins" panose="00000500000000000000" pitchFamily="2" charset="0"/>
              </a:rPr>
              <a:t>Determine whether Core Customer Base customers are motivated by price-points or if they could be upscaled </a:t>
            </a:r>
            <a:br>
              <a:rPr lang="en-HK" sz="1400" dirty="0">
                <a:latin typeface="Poppins" panose="00000500000000000000" pitchFamily="2" charset="0"/>
                <a:cs typeface="Poppins" panose="00000500000000000000" pitchFamily="2" charset="0"/>
              </a:rPr>
            </a:br>
            <a:endParaRPr lang="en-HK" sz="14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HK" sz="1400" dirty="0">
                <a:latin typeface="Poppins" panose="00000500000000000000" pitchFamily="2" charset="0"/>
                <a:cs typeface="Poppins" panose="00000500000000000000" pitchFamily="2" charset="0"/>
              </a:rPr>
              <a:t>Identify which products incentivize our Conservative High Savers to spend money on – it might be a good opportunity to market similar products to encourage a transition</a:t>
            </a:r>
          </a:p>
        </p:txBody>
      </p:sp>
    </p:spTree>
    <p:extLst>
      <p:ext uri="{BB962C8B-B14F-4D97-AF65-F5344CB8AC3E}">
        <p14:creationId xmlns:p14="http://schemas.microsoft.com/office/powerpoint/2010/main" val="779199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4CE9-6407-E179-D834-8A1D225D1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629F1-79AC-ED0C-6F4C-CFACECFF2556}"/>
              </a:ext>
            </a:extLst>
          </p:cNvPr>
          <p:cNvSpPr>
            <a:spLocks noGrp="1"/>
          </p:cNvSpPr>
          <p:nvPr>
            <p:ph type="ctrTitle"/>
          </p:nvPr>
        </p:nvSpPr>
        <p:spPr>
          <a:xfrm>
            <a:off x="5810865" y="2571235"/>
            <a:ext cx="5360055" cy="1715531"/>
          </a:xfrm>
        </p:spPr>
        <p:txBody>
          <a:bodyPr/>
          <a:lstStyle/>
          <a:p>
            <a:r>
              <a:rPr lang="en-HK" sz="3000" dirty="0">
                <a:latin typeface="Poppins Bold" panose="00000800000000000000" pitchFamily="2" charset="0"/>
                <a:cs typeface="Poppins Bold" panose="00000800000000000000" pitchFamily="2" charset="0"/>
              </a:rPr>
              <a:t>Sentiment pulse</a:t>
            </a:r>
          </a:p>
        </p:txBody>
      </p:sp>
    </p:spTree>
    <p:extLst>
      <p:ext uri="{BB962C8B-B14F-4D97-AF65-F5344CB8AC3E}">
        <p14:creationId xmlns:p14="http://schemas.microsoft.com/office/powerpoint/2010/main" val="310763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FCB5-EF10-952C-E371-0A14E2167227}"/>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6A0B98D9-E0A5-A2BF-BCCA-2610F263764E}"/>
              </a:ext>
            </a:extLst>
          </p:cNvPr>
          <p:cNvSpPr>
            <a:spLocks noGrp="1"/>
          </p:cNvSpPr>
          <p:nvPr>
            <p:ph type="sldNum" sz="quarter" idx="12"/>
          </p:nvPr>
        </p:nvSpPr>
        <p:spPr/>
        <p:txBody>
          <a:bodyPr/>
          <a:lstStyle/>
          <a:p>
            <a:fld id="{B5CEABB6-07DC-46E8-9B57-56EC44A396E5}" type="slidenum">
              <a:rPr lang="en-US" smtClean="0"/>
              <a:t>11</a:t>
            </a:fld>
            <a:endParaRPr lang="en-US" dirty="0"/>
          </a:p>
        </p:txBody>
      </p:sp>
      <p:sp>
        <p:nvSpPr>
          <p:cNvPr id="17" name="Title 1">
            <a:extLst>
              <a:ext uri="{FF2B5EF4-FFF2-40B4-BE49-F238E27FC236}">
                <a16:creationId xmlns:a16="http://schemas.microsoft.com/office/drawing/2014/main" id="{92ACA5BA-51D9-8C2E-1F2F-BEF016195173}"/>
              </a:ext>
            </a:extLst>
          </p:cNvPr>
          <p:cNvSpPr>
            <a:spLocks noGrp="1"/>
          </p:cNvSpPr>
          <p:nvPr>
            <p:ph type="title"/>
          </p:nvPr>
        </p:nvSpPr>
        <p:spPr>
          <a:xfrm>
            <a:off x="623165" y="680370"/>
            <a:ext cx="7987435" cy="535464"/>
          </a:xfrm>
        </p:spPr>
        <p:txBody>
          <a:bodyPr>
            <a:normAutofit/>
          </a:bodyPr>
          <a:lstStyle/>
          <a:p>
            <a:r>
              <a:rPr lang="en-HK" sz="3000" dirty="0">
                <a:latin typeface="Poppins Bold" panose="00000800000000000000" pitchFamily="2" charset="0"/>
                <a:cs typeface="Poppins Bold" panose="00000800000000000000" pitchFamily="2" charset="0"/>
              </a:rPr>
              <a:t>SENTIMENT PULSE: BRAND HEALTH</a:t>
            </a:r>
          </a:p>
        </p:txBody>
      </p:sp>
      <p:pic>
        <p:nvPicPr>
          <p:cNvPr id="1026" name="Picture 2">
            <a:extLst>
              <a:ext uri="{FF2B5EF4-FFF2-40B4-BE49-F238E27FC236}">
                <a16:creationId xmlns:a16="http://schemas.microsoft.com/office/drawing/2014/main" id="{5EBB7209-D963-E1BE-051C-E1EA20EDE8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041" y="1382822"/>
            <a:ext cx="9818006" cy="37420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B9CFF18-9012-7CF4-27EC-5FE28BA93317}"/>
              </a:ext>
            </a:extLst>
          </p:cNvPr>
          <p:cNvSpPr txBox="1"/>
          <p:nvPr/>
        </p:nvSpPr>
        <p:spPr>
          <a:xfrm>
            <a:off x="974041" y="5432846"/>
            <a:ext cx="7893512" cy="738664"/>
          </a:xfrm>
          <a:prstGeom prst="rect">
            <a:avLst/>
          </a:prstGeom>
          <a:noFill/>
        </p:spPr>
        <p:txBody>
          <a:bodyPr wrap="square" rtlCol="0">
            <a:spAutoFit/>
          </a:bodyPr>
          <a:lstStyle/>
          <a:p>
            <a:r>
              <a:rPr lang="en-HK" sz="1400" dirty="0">
                <a:latin typeface="Poppins" panose="00000500000000000000" pitchFamily="2" charset="0"/>
                <a:cs typeface="Poppins" panose="00000500000000000000" pitchFamily="2" charset="0"/>
              </a:rPr>
              <a:t>“Neutral to Positive”</a:t>
            </a:r>
          </a:p>
          <a:p>
            <a:r>
              <a:rPr lang="en-HK" sz="1400" dirty="0">
                <a:latin typeface="Poppins" panose="00000500000000000000" pitchFamily="2" charset="0"/>
                <a:cs typeface="Poppins" panose="00000500000000000000" pitchFamily="2" charset="0"/>
              </a:rPr>
              <a:t>Our sentiment histogram reveals a stable brand pulse, but with a significant Neutral Spike. </a:t>
            </a:r>
          </a:p>
        </p:txBody>
      </p:sp>
    </p:spTree>
    <p:extLst>
      <p:ext uri="{BB962C8B-B14F-4D97-AF65-F5344CB8AC3E}">
        <p14:creationId xmlns:p14="http://schemas.microsoft.com/office/powerpoint/2010/main" val="4254616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833A8-FDA4-5881-707C-57E7AB1BD2E9}"/>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2076EC1F-2952-3EB7-28F3-2A962C8622D0}"/>
              </a:ext>
            </a:extLst>
          </p:cNvPr>
          <p:cNvSpPr>
            <a:spLocks noGrp="1"/>
          </p:cNvSpPr>
          <p:nvPr>
            <p:ph type="sldNum" sz="quarter" idx="12"/>
          </p:nvPr>
        </p:nvSpPr>
        <p:spPr/>
        <p:txBody>
          <a:bodyPr/>
          <a:lstStyle/>
          <a:p>
            <a:fld id="{B5CEABB6-07DC-46E8-9B57-56EC44A396E5}" type="slidenum">
              <a:rPr lang="en-US" smtClean="0"/>
              <a:t>12</a:t>
            </a:fld>
            <a:endParaRPr lang="en-US" dirty="0"/>
          </a:p>
        </p:txBody>
      </p:sp>
      <p:sp>
        <p:nvSpPr>
          <p:cNvPr id="17" name="Title 1">
            <a:extLst>
              <a:ext uri="{FF2B5EF4-FFF2-40B4-BE49-F238E27FC236}">
                <a16:creationId xmlns:a16="http://schemas.microsoft.com/office/drawing/2014/main" id="{E009FF50-5A9D-2517-C77C-21638EC96791}"/>
              </a:ext>
            </a:extLst>
          </p:cNvPr>
          <p:cNvSpPr>
            <a:spLocks noGrp="1"/>
          </p:cNvSpPr>
          <p:nvPr>
            <p:ph type="title"/>
          </p:nvPr>
        </p:nvSpPr>
        <p:spPr>
          <a:xfrm>
            <a:off x="623165" y="680370"/>
            <a:ext cx="7987435" cy="535464"/>
          </a:xfrm>
        </p:spPr>
        <p:txBody>
          <a:bodyPr>
            <a:normAutofit/>
          </a:bodyPr>
          <a:lstStyle/>
          <a:p>
            <a:r>
              <a:rPr lang="en-HK" sz="3000" dirty="0">
                <a:latin typeface="Poppins Bold" panose="00000800000000000000" pitchFamily="2" charset="0"/>
                <a:cs typeface="Poppins Bold" panose="00000800000000000000" pitchFamily="2" charset="0"/>
              </a:rPr>
              <a:t>SENTIMENT PULSE: BRAND HEALTH</a:t>
            </a:r>
          </a:p>
        </p:txBody>
      </p:sp>
      <p:pic>
        <p:nvPicPr>
          <p:cNvPr id="3" name="Picture 2">
            <a:extLst>
              <a:ext uri="{FF2B5EF4-FFF2-40B4-BE49-F238E27FC236}">
                <a16:creationId xmlns:a16="http://schemas.microsoft.com/office/drawing/2014/main" id="{815B991F-0D2F-50FB-1C6C-CF227B7032BF}"/>
              </a:ext>
            </a:extLst>
          </p:cNvPr>
          <p:cNvPicPr>
            <a:picLocks noChangeAspect="1"/>
          </p:cNvPicPr>
          <p:nvPr/>
        </p:nvPicPr>
        <p:blipFill>
          <a:blip r:embed="rId3"/>
          <a:stretch>
            <a:fillRect/>
          </a:stretch>
        </p:blipFill>
        <p:spPr>
          <a:xfrm>
            <a:off x="422557" y="1366873"/>
            <a:ext cx="8388650" cy="4810757"/>
          </a:xfrm>
          <a:prstGeom prst="rect">
            <a:avLst/>
          </a:prstGeom>
        </p:spPr>
      </p:pic>
      <p:sp>
        <p:nvSpPr>
          <p:cNvPr id="4" name="TextBox 3">
            <a:extLst>
              <a:ext uri="{FF2B5EF4-FFF2-40B4-BE49-F238E27FC236}">
                <a16:creationId xmlns:a16="http://schemas.microsoft.com/office/drawing/2014/main" id="{9D4D4465-4EDC-1F4F-FD46-F7C0062145DC}"/>
              </a:ext>
            </a:extLst>
          </p:cNvPr>
          <p:cNvSpPr txBox="1"/>
          <p:nvPr/>
        </p:nvSpPr>
        <p:spPr>
          <a:xfrm>
            <a:off x="8994359" y="1366873"/>
            <a:ext cx="2743201" cy="307777"/>
          </a:xfrm>
          <a:prstGeom prst="rect">
            <a:avLst/>
          </a:prstGeom>
          <a:noFill/>
        </p:spPr>
        <p:txBody>
          <a:bodyPr wrap="square" rtlCol="0">
            <a:spAutoFit/>
          </a:bodyPr>
          <a:lstStyle/>
          <a:p>
            <a:r>
              <a:rPr lang="en-HK" sz="1400" dirty="0">
                <a:latin typeface="Poppins" panose="00000500000000000000" pitchFamily="2" charset="0"/>
                <a:cs typeface="Poppins" panose="00000500000000000000" pitchFamily="2" charset="0"/>
              </a:rPr>
              <a:t>Top 10 most common words</a:t>
            </a:r>
          </a:p>
        </p:txBody>
      </p:sp>
      <p:graphicFrame>
        <p:nvGraphicFramePr>
          <p:cNvPr id="5" name="Table 4">
            <a:extLst>
              <a:ext uri="{FF2B5EF4-FFF2-40B4-BE49-F238E27FC236}">
                <a16:creationId xmlns:a16="http://schemas.microsoft.com/office/drawing/2014/main" id="{6C92A36D-C10E-FFD1-959F-E0FABC340DBC}"/>
              </a:ext>
            </a:extLst>
          </p:cNvPr>
          <p:cNvGraphicFramePr>
            <a:graphicFrameLocks noGrp="1"/>
          </p:cNvGraphicFramePr>
          <p:nvPr/>
        </p:nvGraphicFramePr>
        <p:xfrm>
          <a:off x="9090053" y="1853370"/>
          <a:ext cx="2775084" cy="3708400"/>
        </p:xfrm>
        <a:graphic>
          <a:graphicData uri="http://schemas.openxmlformats.org/drawingml/2006/table">
            <a:tbl>
              <a:tblPr bandRow="1">
                <a:tableStyleId>{7E9639D4-E3E2-4D34-9284-5A2195B3D0D7}</a:tableStyleId>
              </a:tblPr>
              <a:tblGrid>
                <a:gridCol w="596208">
                  <a:extLst>
                    <a:ext uri="{9D8B030D-6E8A-4147-A177-3AD203B41FA5}">
                      <a16:colId xmlns:a16="http://schemas.microsoft.com/office/drawing/2014/main" val="3952848147"/>
                    </a:ext>
                  </a:extLst>
                </a:gridCol>
                <a:gridCol w="2178876">
                  <a:extLst>
                    <a:ext uri="{9D8B030D-6E8A-4147-A177-3AD203B41FA5}">
                      <a16:colId xmlns:a16="http://schemas.microsoft.com/office/drawing/2014/main" val="520313857"/>
                    </a:ext>
                  </a:extLst>
                </a:gridCol>
              </a:tblGrid>
              <a:tr h="370840">
                <a:tc>
                  <a:txBody>
                    <a:bodyPr/>
                    <a:lstStyle/>
                    <a:p>
                      <a:r>
                        <a:rPr lang="en-HK" sz="1400" dirty="0">
                          <a:latin typeface="Poppins Light" panose="00000400000000000000" pitchFamily="2" charset="0"/>
                          <a:cs typeface="Poppins Light" panose="00000400000000000000" pitchFamily="2" charset="0"/>
                        </a:rPr>
                        <a:t>1</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Game</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91367233"/>
                  </a:ext>
                </a:extLst>
              </a:tr>
              <a:tr h="370840">
                <a:tc>
                  <a:txBody>
                    <a:bodyPr/>
                    <a:lstStyle/>
                    <a:p>
                      <a:r>
                        <a:rPr lang="en-HK" sz="1400" dirty="0">
                          <a:latin typeface="Poppins Light" panose="00000400000000000000" pitchFamily="2" charset="0"/>
                          <a:cs typeface="Poppins Light" panose="00000400000000000000" pitchFamily="2" charset="0"/>
                        </a:rPr>
                        <a:t>2</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Great</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138872380"/>
                  </a:ext>
                </a:extLst>
              </a:tr>
              <a:tr h="370840">
                <a:tc>
                  <a:txBody>
                    <a:bodyPr/>
                    <a:lstStyle/>
                    <a:p>
                      <a:r>
                        <a:rPr lang="en-HK" sz="1400" dirty="0">
                          <a:latin typeface="Poppins Light" panose="00000400000000000000" pitchFamily="2" charset="0"/>
                          <a:cs typeface="Poppins Light" panose="00000400000000000000" pitchFamily="2" charset="0"/>
                        </a:rPr>
                        <a:t>3</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Fun</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1008633855"/>
                  </a:ext>
                </a:extLst>
              </a:tr>
              <a:tr h="370840">
                <a:tc>
                  <a:txBody>
                    <a:bodyPr/>
                    <a:lstStyle/>
                    <a:p>
                      <a:r>
                        <a:rPr lang="en-HK" sz="1400" dirty="0">
                          <a:latin typeface="Poppins Light" panose="00000400000000000000" pitchFamily="2" charset="0"/>
                          <a:cs typeface="Poppins Light" panose="00000400000000000000" pitchFamily="2" charset="0"/>
                        </a:rPr>
                        <a:t>4</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One</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3314801522"/>
                  </a:ext>
                </a:extLst>
              </a:tr>
              <a:tr h="370840">
                <a:tc>
                  <a:txBody>
                    <a:bodyPr/>
                    <a:lstStyle/>
                    <a:p>
                      <a:r>
                        <a:rPr lang="en-HK" sz="1400" dirty="0">
                          <a:latin typeface="Poppins Light" panose="00000400000000000000" pitchFamily="2" charset="0"/>
                          <a:cs typeface="Poppins Light" panose="00000400000000000000" pitchFamily="2" charset="0"/>
                        </a:rPr>
                        <a:t>5</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Play</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785472565"/>
                  </a:ext>
                </a:extLst>
              </a:tr>
              <a:tr h="370840">
                <a:tc>
                  <a:txBody>
                    <a:bodyPr/>
                    <a:lstStyle/>
                    <a:p>
                      <a:r>
                        <a:rPr lang="en-HK" sz="1400" dirty="0">
                          <a:latin typeface="Poppins Light" panose="00000400000000000000" pitchFamily="2" charset="0"/>
                          <a:cs typeface="Poppins Light" panose="00000400000000000000" pitchFamily="2" charset="0"/>
                        </a:rPr>
                        <a:t>6</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Like</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1780296645"/>
                  </a:ext>
                </a:extLst>
              </a:tr>
              <a:tr h="370840">
                <a:tc>
                  <a:txBody>
                    <a:bodyPr/>
                    <a:lstStyle/>
                    <a:p>
                      <a:r>
                        <a:rPr lang="en-HK" sz="1400" dirty="0">
                          <a:latin typeface="Poppins Light" panose="00000400000000000000" pitchFamily="2" charset="0"/>
                          <a:cs typeface="Poppins Light" panose="00000400000000000000" pitchFamily="2" charset="0"/>
                        </a:rPr>
                        <a:t>7</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Stars</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1261260348"/>
                  </a:ext>
                </a:extLst>
              </a:tr>
              <a:tr h="370840">
                <a:tc>
                  <a:txBody>
                    <a:bodyPr/>
                    <a:lstStyle/>
                    <a:p>
                      <a:r>
                        <a:rPr lang="en-HK" sz="1400" dirty="0">
                          <a:latin typeface="Poppins Light" panose="00000400000000000000" pitchFamily="2" charset="0"/>
                          <a:cs typeface="Poppins Light" panose="00000400000000000000" pitchFamily="2" charset="0"/>
                        </a:rPr>
                        <a:t>8</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Love</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3967377497"/>
                  </a:ext>
                </a:extLst>
              </a:tr>
              <a:tr h="370840">
                <a:tc>
                  <a:txBody>
                    <a:bodyPr/>
                    <a:lstStyle/>
                    <a:p>
                      <a:r>
                        <a:rPr lang="en-HK" sz="1400" dirty="0">
                          <a:latin typeface="Poppins Light" panose="00000400000000000000" pitchFamily="2" charset="0"/>
                          <a:cs typeface="Poppins Light" panose="00000400000000000000" pitchFamily="2" charset="0"/>
                        </a:rPr>
                        <a:t>9</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Good</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011175011"/>
                  </a:ext>
                </a:extLst>
              </a:tr>
              <a:tr h="370840">
                <a:tc>
                  <a:txBody>
                    <a:bodyPr/>
                    <a:lstStyle/>
                    <a:p>
                      <a:r>
                        <a:rPr lang="en-HK" sz="1400" dirty="0">
                          <a:latin typeface="Poppins Light" panose="00000400000000000000" pitchFamily="2" charset="0"/>
                          <a:cs typeface="Poppins Light" panose="00000400000000000000" pitchFamily="2" charset="0"/>
                        </a:rPr>
                        <a:t>10</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tc>
                  <a:txBody>
                    <a:bodyPr/>
                    <a:lstStyle/>
                    <a:p>
                      <a:r>
                        <a:rPr lang="en-HK" sz="1400" dirty="0">
                          <a:latin typeface="Poppins Light" panose="00000400000000000000" pitchFamily="2" charset="0"/>
                          <a:cs typeface="Poppins Light" panose="00000400000000000000" pitchFamily="2" charset="0"/>
                        </a:rPr>
                        <a:t>Five</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3940816963"/>
                  </a:ext>
                </a:extLst>
              </a:tr>
            </a:tbl>
          </a:graphicData>
        </a:graphic>
      </p:graphicFrame>
    </p:spTree>
    <p:extLst>
      <p:ext uri="{BB962C8B-B14F-4D97-AF65-F5344CB8AC3E}">
        <p14:creationId xmlns:p14="http://schemas.microsoft.com/office/powerpoint/2010/main" val="2099880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BE17-32A0-024F-0836-46E930999E9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4AEE080-EE55-A802-3D44-9A793692F1F7}"/>
              </a:ext>
            </a:extLst>
          </p:cNvPr>
          <p:cNvSpPr>
            <a:spLocks noGrp="1"/>
          </p:cNvSpPr>
          <p:nvPr>
            <p:ph type="body" idx="1"/>
          </p:nvPr>
        </p:nvSpPr>
        <p:spPr>
          <a:xfrm>
            <a:off x="623164" y="1903411"/>
            <a:ext cx="10730635" cy="4415877"/>
          </a:xfrm>
        </p:spPr>
        <p:txBody>
          <a:bodyPr>
            <a:normAutofit/>
          </a:bodyPr>
          <a:lstStyle/>
          <a:p>
            <a:endParaRPr lang="en-HK" sz="13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300" b="1" dirty="0">
                <a:latin typeface="Poppins Light" panose="00000400000000000000" pitchFamily="2" charset="0"/>
                <a:cs typeface="Poppins Light" panose="00000400000000000000" pitchFamily="2" charset="0"/>
              </a:rPr>
              <a:t>Target the Conservative/High Savers Segment 2 Customer Profile</a:t>
            </a:r>
            <a:br>
              <a:rPr lang="en-HK" sz="1300" dirty="0">
                <a:latin typeface="Poppins Light" panose="00000400000000000000" pitchFamily="2" charset="0"/>
                <a:cs typeface="Poppins Light" panose="00000400000000000000" pitchFamily="2" charset="0"/>
              </a:rPr>
            </a:br>
            <a:br>
              <a:rPr lang="en-HK" sz="1300" dirty="0">
                <a:latin typeface="Poppins Light" panose="00000400000000000000" pitchFamily="2" charset="0"/>
                <a:cs typeface="Poppins Light" panose="00000400000000000000" pitchFamily="2" charset="0"/>
              </a:rPr>
            </a:br>
            <a:r>
              <a:rPr lang="en-HK" sz="1300" dirty="0">
                <a:latin typeface="Poppins Light" panose="00000400000000000000" pitchFamily="2" charset="0"/>
                <a:cs typeface="Poppins Light" panose="00000400000000000000" pitchFamily="2" charset="0"/>
              </a:rPr>
              <a:t>Identify high conversion products for Segment 2. Sales Team should market high affinity products to these customers to test whether they can replicate success.</a:t>
            </a:r>
            <a:br>
              <a:rPr lang="en-HK" sz="1300" dirty="0">
                <a:latin typeface="Poppins Light" panose="00000400000000000000" pitchFamily="2" charset="0"/>
                <a:cs typeface="Poppins Light" panose="00000400000000000000" pitchFamily="2" charset="0"/>
              </a:rPr>
            </a:br>
            <a:endParaRPr lang="en-HK" sz="13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300" b="1" dirty="0">
                <a:latin typeface="Poppins Light" panose="00000400000000000000" pitchFamily="2" charset="0"/>
                <a:cs typeface="Poppins Light" panose="00000400000000000000" pitchFamily="2" charset="0"/>
              </a:rPr>
              <a:t>Upscale our Core Market Customers</a:t>
            </a:r>
            <a:br>
              <a:rPr lang="en-HK" sz="1300" dirty="0">
                <a:latin typeface="Poppins Light" panose="00000400000000000000" pitchFamily="2" charset="0"/>
                <a:cs typeface="Poppins Light" panose="00000400000000000000" pitchFamily="2" charset="0"/>
              </a:rPr>
            </a:br>
            <a:br>
              <a:rPr lang="en-HK" sz="1300" dirty="0">
                <a:latin typeface="Poppins Light" panose="00000400000000000000" pitchFamily="2" charset="0"/>
                <a:cs typeface="Poppins Light" panose="00000400000000000000" pitchFamily="2" charset="0"/>
              </a:rPr>
            </a:br>
            <a:r>
              <a:rPr lang="en-HK" sz="1300" dirty="0">
                <a:latin typeface="Poppins Light" panose="00000400000000000000" pitchFamily="2" charset="0"/>
                <a:cs typeface="Poppins Light" panose="00000400000000000000" pitchFamily="2" charset="0"/>
              </a:rPr>
              <a:t>Our Core Market is stable. Test price-elasticity to see if we can increase margins without losing volume</a:t>
            </a:r>
            <a:br>
              <a:rPr lang="en-HK" sz="1300" dirty="0">
                <a:latin typeface="Poppins Light" panose="00000400000000000000" pitchFamily="2" charset="0"/>
                <a:cs typeface="Poppins Light" panose="00000400000000000000" pitchFamily="2" charset="0"/>
              </a:rPr>
            </a:br>
            <a:endParaRPr lang="en-HK" sz="13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300" b="1" dirty="0">
                <a:latin typeface="Poppins Light" panose="00000400000000000000" pitchFamily="2" charset="0"/>
                <a:cs typeface="Poppins Light" panose="00000400000000000000" pitchFamily="2" charset="0"/>
              </a:rPr>
              <a:t>Close the Data Gap</a:t>
            </a:r>
            <a:br>
              <a:rPr lang="en-HK" sz="1300" dirty="0">
                <a:latin typeface="Poppins Light" panose="00000400000000000000" pitchFamily="2" charset="0"/>
                <a:cs typeface="Poppins Light" panose="00000400000000000000" pitchFamily="2" charset="0"/>
              </a:rPr>
            </a:br>
            <a:br>
              <a:rPr lang="en-HK" sz="1300" dirty="0">
                <a:latin typeface="Poppins Light" panose="00000400000000000000" pitchFamily="2" charset="0"/>
                <a:cs typeface="Poppins Light" panose="00000400000000000000" pitchFamily="2" charset="0"/>
              </a:rPr>
            </a:br>
            <a:r>
              <a:rPr lang="en-HK" sz="1300" dirty="0">
                <a:latin typeface="Poppins Light" panose="00000400000000000000" pitchFamily="2" charset="0"/>
                <a:cs typeface="Poppins Light" panose="00000400000000000000" pitchFamily="2" charset="0"/>
              </a:rPr>
              <a:t>Capturing Product Category at checkout might resolve current model error and achieve 90%+ accuracy </a:t>
            </a:r>
            <a:br>
              <a:rPr lang="en-HK" sz="1300" dirty="0">
                <a:latin typeface="Poppins Light" panose="00000400000000000000" pitchFamily="2" charset="0"/>
                <a:cs typeface="Poppins Light" panose="00000400000000000000" pitchFamily="2" charset="0"/>
              </a:rPr>
            </a:br>
            <a:endParaRPr lang="en-HK" sz="1300" dirty="0">
              <a:latin typeface="Poppins Light" panose="00000400000000000000" pitchFamily="2" charset="0"/>
              <a:cs typeface="Poppins Light" panose="00000400000000000000" pitchFamily="2" charset="0"/>
            </a:endParaRPr>
          </a:p>
          <a:p>
            <a:pPr marL="285750" indent="-285750">
              <a:buFont typeface="Arial" panose="020B0604020202020204" pitchFamily="34" charset="0"/>
              <a:buChar char="•"/>
            </a:pPr>
            <a:r>
              <a:rPr lang="en-HK" sz="1300" b="1" dirty="0">
                <a:latin typeface="Poppins Light" panose="00000400000000000000" pitchFamily="2" charset="0"/>
                <a:cs typeface="Poppins Light" panose="00000400000000000000" pitchFamily="2" charset="0"/>
              </a:rPr>
              <a:t>Emotive Marketing</a:t>
            </a:r>
            <a:br>
              <a:rPr lang="en-HK" sz="1300" dirty="0">
                <a:latin typeface="Poppins Light" panose="00000400000000000000" pitchFamily="2" charset="0"/>
                <a:cs typeface="Poppins Light" panose="00000400000000000000" pitchFamily="2" charset="0"/>
              </a:rPr>
            </a:br>
            <a:br>
              <a:rPr lang="en-HK" sz="1300" dirty="0">
                <a:latin typeface="Poppins Light" panose="00000400000000000000" pitchFamily="2" charset="0"/>
                <a:cs typeface="Poppins Light" panose="00000400000000000000" pitchFamily="2" charset="0"/>
              </a:rPr>
            </a:br>
            <a:r>
              <a:rPr lang="en-HK" sz="1300" dirty="0">
                <a:latin typeface="Poppins Light" panose="00000400000000000000" pitchFamily="2" charset="0"/>
                <a:cs typeface="Poppins Light" panose="00000400000000000000" pitchFamily="2" charset="0"/>
              </a:rPr>
              <a:t>Devise personalized, emotion-driven marketing communications</a:t>
            </a:r>
          </a:p>
          <a:p>
            <a:pPr marL="285750" indent="-285750">
              <a:buFont typeface="Arial" panose="020B0604020202020204" pitchFamily="34" charset="0"/>
              <a:buChar char="•"/>
            </a:pPr>
            <a:endParaRPr lang="en-HK" sz="1300" dirty="0">
              <a:latin typeface="Poppins Light" panose="00000400000000000000" pitchFamily="2" charset="0"/>
              <a:cs typeface="Poppins Light" panose="00000400000000000000" pitchFamily="2" charset="0"/>
            </a:endParaRPr>
          </a:p>
        </p:txBody>
      </p:sp>
      <p:sp>
        <p:nvSpPr>
          <p:cNvPr id="6" name="Slide Number Placeholder 5">
            <a:extLst>
              <a:ext uri="{FF2B5EF4-FFF2-40B4-BE49-F238E27FC236}">
                <a16:creationId xmlns:a16="http://schemas.microsoft.com/office/drawing/2014/main" id="{F3927D04-5599-46E1-B88F-30D2B231E157}"/>
              </a:ext>
            </a:extLst>
          </p:cNvPr>
          <p:cNvSpPr>
            <a:spLocks noGrp="1"/>
          </p:cNvSpPr>
          <p:nvPr>
            <p:ph type="sldNum" sz="quarter" idx="12"/>
          </p:nvPr>
        </p:nvSpPr>
        <p:spPr/>
        <p:txBody>
          <a:bodyPr/>
          <a:lstStyle/>
          <a:p>
            <a:fld id="{B5CEABB6-07DC-46E8-9B57-56EC44A396E5}" type="slidenum">
              <a:rPr lang="en-US" smtClean="0"/>
              <a:t>13</a:t>
            </a:fld>
            <a:endParaRPr lang="en-US" dirty="0"/>
          </a:p>
        </p:txBody>
      </p:sp>
      <p:sp>
        <p:nvSpPr>
          <p:cNvPr id="4" name="Title 1">
            <a:extLst>
              <a:ext uri="{FF2B5EF4-FFF2-40B4-BE49-F238E27FC236}">
                <a16:creationId xmlns:a16="http://schemas.microsoft.com/office/drawing/2014/main" id="{ACC6CA13-5A7C-0CB8-CD28-9C45E417FF64}"/>
              </a:ext>
            </a:extLst>
          </p:cNvPr>
          <p:cNvSpPr txBox="1">
            <a:spLocks/>
          </p:cNvSpPr>
          <p:nvPr/>
        </p:nvSpPr>
        <p:spPr>
          <a:xfrm>
            <a:off x="623165" y="538712"/>
            <a:ext cx="7643954" cy="105384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endParaRPr lang="en-HK" sz="3000" dirty="0">
              <a:latin typeface="Poppins Bold" panose="00000800000000000000" pitchFamily="2" charset="0"/>
              <a:cs typeface="Poppins Bold" panose="00000800000000000000" pitchFamily="2" charset="0"/>
            </a:endParaRPr>
          </a:p>
        </p:txBody>
      </p:sp>
      <p:sp>
        <p:nvSpPr>
          <p:cNvPr id="8" name="Title 1">
            <a:extLst>
              <a:ext uri="{FF2B5EF4-FFF2-40B4-BE49-F238E27FC236}">
                <a16:creationId xmlns:a16="http://schemas.microsoft.com/office/drawing/2014/main" id="{A8B810E1-6E11-01E8-6332-9C3376B4F716}"/>
              </a:ext>
            </a:extLst>
          </p:cNvPr>
          <p:cNvSpPr txBox="1">
            <a:spLocks/>
          </p:cNvSpPr>
          <p:nvPr/>
        </p:nvSpPr>
        <p:spPr>
          <a:xfrm>
            <a:off x="623164" y="691112"/>
            <a:ext cx="7796355" cy="105384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r>
              <a:rPr lang="en-US" sz="3000" dirty="0">
                <a:latin typeface="Poppins Bold" panose="00000800000000000000" pitchFamily="2" charset="0"/>
                <a:cs typeface="Poppins Bold" panose="00000800000000000000" pitchFamily="2" charset="0"/>
              </a:rPr>
              <a:t>RECOMMENDATION</a:t>
            </a:r>
            <a:endParaRPr lang="en-HK" sz="3000" dirty="0">
              <a:latin typeface="Poppins Bold" panose="00000800000000000000" pitchFamily="2" charset="0"/>
              <a:cs typeface="Poppins Bold" panose="00000800000000000000" pitchFamily="2" charset="0"/>
            </a:endParaRPr>
          </a:p>
        </p:txBody>
      </p:sp>
    </p:spTree>
    <p:extLst>
      <p:ext uri="{BB962C8B-B14F-4D97-AF65-F5344CB8AC3E}">
        <p14:creationId xmlns:p14="http://schemas.microsoft.com/office/powerpoint/2010/main" val="1198350234"/>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{834E789B-D9BD-4488-9E39-F4503963CF2E}TF1ed81438-95a7-4ae9-841d-43ea2c64f7fc8ae7ff09_win32-aa52a5bb69e3</Template>
  <TotalTime>2483</TotalTime>
  <Words>1030</Words>
  <Application>Microsoft Office PowerPoint</Application>
  <PresentationFormat>Widescreen</PresentationFormat>
  <Paragraphs>109</Paragraphs>
  <Slides>13</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Poppins</vt:lpstr>
      <vt:lpstr>Poppins Bold</vt:lpstr>
      <vt:lpstr>Poppins Light</vt:lpstr>
      <vt:lpstr>Tenorite</vt:lpstr>
      <vt:lpstr>Wingdings</vt:lpstr>
      <vt:lpstr>Monoline</vt:lpstr>
      <vt:lpstr>PREDICTING FUTURE OUTCOMES</vt:lpstr>
      <vt:lpstr>AGENDA</vt:lpstr>
      <vt:lpstr>PROJECT OVERVIEW</vt:lpstr>
      <vt:lpstr>The loyalty engine</vt:lpstr>
      <vt:lpstr>IDENTIFYING THE VALUE DRIVERS</vt:lpstr>
      <vt:lpstr>PRIMARY DRIVERS OF LOYALTY</vt:lpstr>
      <vt:lpstr>CUSTOMER PERSONAS</vt:lpstr>
      <vt:lpstr>STRATEGIC PERSONAS </vt:lpstr>
      <vt:lpstr>THE ENGAGEMENT GAP</vt:lpstr>
      <vt:lpstr>Sentiment pulse</vt:lpstr>
      <vt:lpstr>SENTIMENT PULSE: BRAND HEALTH</vt:lpstr>
      <vt:lpstr>SENTIMENT PULSE: BRAND HEALTH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Pong, Alison X. -ND</dc:creator>
  <cp:lastModifiedBy>Pong, Alison X. -ND</cp:lastModifiedBy>
  <cp:revision>58</cp:revision>
  <dcterms:created xsi:type="dcterms:W3CDTF">2026-03-04T09:07:26Z</dcterms:created>
  <dcterms:modified xsi:type="dcterms:W3CDTF">2026-04-28T09:03:24Z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c62e0584-010f-4004-8a6a-d5c118c8b4bd_Enabled">
    <vt:lpwstr>true</vt:lpwstr>
  </property>
  <property fmtid="{D5CDD505-2E9C-101B-9397-08002B2CF9AE}" pid="4" name="MSIP_Label_c62e0584-010f-4004-8a6a-d5c118c8b4bd_SetDate">
    <vt:lpwstr>2026-03-04T09:17:57Z</vt:lpwstr>
  </property>
  <property fmtid="{D5CDD505-2E9C-101B-9397-08002B2CF9AE}" pid="5" name="MSIP_Label_c62e0584-010f-4004-8a6a-d5c118c8b4bd_Method">
    <vt:lpwstr>Standard</vt:lpwstr>
  </property>
  <property fmtid="{D5CDD505-2E9C-101B-9397-08002B2CF9AE}" pid="6" name="MSIP_Label_c62e0584-010f-4004-8a6a-d5c118c8b4bd_Name">
    <vt:lpwstr>Internal</vt:lpwstr>
  </property>
  <property fmtid="{D5CDD505-2E9C-101B-9397-08002B2CF9AE}" pid="7" name="MSIP_Label_c62e0584-010f-4004-8a6a-d5c118c8b4bd_SiteId">
    <vt:lpwstr>56b731a8-a2ac-4c32-bf6b-616810e913c6</vt:lpwstr>
  </property>
  <property fmtid="{D5CDD505-2E9C-101B-9397-08002B2CF9AE}" pid="8" name="MSIP_Label_c62e0584-010f-4004-8a6a-d5c118c8b4bd_ActionId">
    <vt:lpwstr>5380c77b-18f8-4d31-a3e1-316cd33332c7</vt:lpwstr>
  </property>
  <property fmtid="{D5CDD505-2E9C-101B-9397-08002B2CF9AE}" pid="9" name="MSIP_Label_c62e0584-010f-4004-8a6a-d5c118c8b4bd_ContentBits">
    <vt:lpwstr>0</vt:lpwstr>
  </property>
  <property fmtid="{D5CDD505-2E9C-101B-9397-08002B2CF9AE}" pid="10" name="MSIP_Label_c62e0584-010f-4004-8a6a-d5c118c8b4bd_Tag">
    <vt:lpwstr>10, 3, 0, 1</vt:lpwstr>
  </property>
</Properties>
</file>